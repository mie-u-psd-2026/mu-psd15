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クレーム対応を安全に練習できるWebアプリ、クレトレを作りました。チーム15、中川颯都です。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新人のクレーム対応には構造的な問題があります。練習の機会が足りず、思いきり失敗もできず、良し悪しを測る目安もない。結果として本物のお客様に迷惑をかけながら覚えるしかありません。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そこで作ったのがクレトレです。AIが怒った顧客を演じ、こちらは店員として応対します。怒りの強さが数値で動くので、自分の一言が効いたかどうかがその場で分かります。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ここで実際に動かします。商品の不具合、ふつうの手ごわさで開始し、良い応対と悪い応対で怒りがどう動くかをお見せします。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構成は3層です。特徴はサーバーが何も覚えないこと。会話と怒りの値はブラウザが持ち、毎回まとめて送ります。データベースを作らない判断で、必須機能に時間を使えました。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最初の工夫です。AIに数値を出させたかったのですが、必ず出してと頼むだけでは無視されました。穴埋めの型を渡すと必ず守ってくれます。抽象的な命令より型のほうが強い、という発見でした。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AIモデルは4種類を実測で比べました。小さいモデルは日本語が破綻します。7Bと9Bはサイズが近いのに差が出ました。カタログではなく実測で選ぶべきという学びです。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テストで最も危険な問題が見つかりました。5秒以内と約束していたのに、実際は95秒かかっていたのです。連続して試していたので気づけませんでした。発表本番で起きていたら致命的でした。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もう一つは自分では気づけなかった問題です。実際に使ってもらったところ、会話が3ラリーで終わると指摘を受けました。AIに頼らずコード側で変化幅を制限して解決しました。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振り返り機能では、どの一言が怒りをいくつ動かしたかを残します。規約上という一言がプラス7だったと分かれば、次に避けるべきものが具体的になります。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一人開発ですが、チーム開発の作法で進めました。ブランチを切ってPull Requestを作り、設計書と突き合わせてからマージしています。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学びは3つです。測り方を間違えると問題は見えない。AIは信用せずコードで保証する。そして自分では自分の作ったものを評価できない。どれも実際に失敗して学びました。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以上です。ご清聴ありがとうございました。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230"/>
        </a:solidFill>
      </p:bgPr>
    </p:bg>
    <p:spTree>
      <p:nvGrpSpPr>
        <p:cNvPr id="1" name=""/>
        <p:cNvGrpSpPr/>
        <p:nvPr/>
      </p:nvGrpSpPr>
      <p:grpSpPr>
        <a:xfrm>
          <a:off x="0" y="0"/>
          <a:ext cx="0" cy="0"/>
          <a:chOff x="0" y="0"/>
          <a:chExt cx="0" cy="0"/>
        </a:xfrm>
      </p:grpSpPr>
      <p:sp>
        <p:nvSpPr>
          <p:cNvPr id="2" name="Text 0"/>
          <p:cNvSpPr txBox="1"/>
          <p:nvPr/>
        </p:nvSpPr>
        <p:spPr>
          <a:xfrm>
            <a:off x="822960" y="2011680"/>
            <a:ext cx="7315200" cy="1463040"/>
          </a:xfrm>
          <a:prstGeom prst="rect">
            <a:avLst/>
          </a:prstGeom>
          <a:noFill/>
          <a:ln/>
        </p:spPr>
        <p:txBody>
          <a:bodyPr wrap="square" lIns="0" tIns="0" rIns="0" bIns="0" rtlCol="0" anchor="ctr"/>
          <a:lstStyle/>
          <a:p>
            <a:pPr indent="0" marL="0">
              <a:buNone/>
            </a:pPr>
            <a:r>
              <a:rPr lang="en-US" sz="6600" b="1" spc="600" kern="0" dirty="0">
                <a:solidFill>
                  <a:srgbClr val="FFFFFF"/>
                </a:solidFill>
                <a:latin typeface="Cambria" pitchFamily="34" charset="0"/>
                <a:ea typeface="Cambria" pitchFamily="34" charset="-122"/>
                <a:cs typeface="Cambria" pitchFamily="34" charset="-120"/>
              </a:rPr>
              <a:t>クレトレ</a:t>
            </a:r>
            <a:endParaRPr lang="en-US" sz="6600" dirty="0"/>
          </a:p>
        </p:txBody>
      </p:sp>
      <p:sp>
        <p:nvSpPr>
          <p:cNvPr id="3" name="Text 1"/>
          <p:cNvSpPr txBox="1"/>
          <p:nvPr/>
        </p:nvSpPr>
        <p:spPr>
          <a:xfrm>
            <a:off x="868680" y="3611880"/>
            <a:ext cx="7315200" cy="1005840"/>
          </a:xfrm>
          <a:prstGeom prst="rect">
            <a:avLst/>
          </a:prstGeom>
          <a:noFill/>
          <a:ln/>
        </p:spPr>
        <p:txBody>
          <a:bodyPr wrap="square" lIns="0" tIns="0" rIns="0" bIns="0" rtlCol="0" anchor="ctr"/>
          <a:lstStyle/>
          <a:p>
            <a:pPr indent="0" marL="0">
              <a:lnSpc>
                <a:spcPts val="3000"/>
              </a:lnSpc>
              <a:buNone/>
            </a:pPr>
            <a:r>
              <a:rPr lang="en-US" sz="1900" dirty="0">
                <a:solidFill>
                  <a:srgbClr val="6B7688"/>
                </a:solidFill>
                <a:latin typeface="Calibri" pitchFamily="34" charset="0"/>
                <a:ea typeface="Calibri" pitchFamily="34" charset="-122"/>
                <a:cs typeface="Calibri" pitchFamily="34" charset="-120"/>
              </a:rPr>
              <a:t>怒らせても、誰にも迷惑がかからない。</a:t>
            </a:r>
            <a:endParaRPr lang="en-US" sz="1900" dirty="0"/>
          </a:p>
          <a:p>
            <a:pPr indent="0" marL="0">
              <a:lnSpc>
                <a:spcPts val="3000"/>
              </a:lnSpc>
              <a:buNone/>
            </a:pPr>
            <a:r>
              <a:rPr lang="en-US" sz="1900" dirty="0">
                <a:solidFill>
                  <a:srgbClr val="6B7688"/>
                </a:solidFill>
                <a:latin typeface="Calibri" pitchFamily="34" charset="0"/>
                <a:ea typeface="Calibri" pitchFamily="34" charset="-122"/>
                <a:cs typeface="Calibri" pitchFamily="34" charset="-120"/>
              </a:rPr>
              <a:t>何度でも失敗できる、クレーム対応の練習場。</a:t>
            </a:r>
            <a:endParaRPr lang="en-US" sz="1900" dirty="0"/>
          </a:p>
        </p:txBody>
      </p:sp>
      <p:sp>
        <p:nvSpPr>
          <p:cNvPr id="4" name="Text 2"/>
          <p:cNvSpPr txBox="1"/>
          <p:nvPr/>
        </p:nvSpPr>
        <p:spPr>
          <a:xfrm>
            <a:off x="868680" y="4663440"/>
            <a:ext cx="5486400" cy="274320"/>
          </a:xfrm>
          <a:prstGeom prst="rect">
            <a:avLst/>
          </a:prstGeom>
          <a:noFill/>
          <a:ln/>
        </p:spPr>
        <p:txBody>
          <a:bodyPr wrap="square" lIns="0" tIns="0" rIns="0" bIns="0" rtlCol="0" anchor="ctr"/>
          <a:lstStyle/>
          <a:p>
            <a:pPr indent="0" marL="0">
              <a:buNone/>
            </a:pPr>
            <a:r>
              <a:rPr lang="en-US" sz="1200" spc="200" kern="0" dirty="0">
                <a:solidFill>
                  <a:srgbClr val="6B7688"/>
                </a:solidFill>
                <a:latin typeface="Courier New" pitchFamily="34" charset="0"/>
                <a:ea typeface="Courier New" pitchFamily="34" charset="-122"/>
                <a:cs typeface="Courier New" pitchFamily="34" charset="-120"/>
              </a:rPr>
              <a:t>実践ソフトウェア開発  成果発表</a:t>
            </a:r>
            <a:endParaRPr lang="en-US" sz="1200" dirty="0"/>
          </a:p>
        </p:txBody>
      </p:sp>
      <p:sp>
        <p:nvSpPr>
          <p:cNvPr id="5" name="Text 3"/>
          <p:cNvSpPr txBox="1"/>
          <p:nvPr/>
        </p:nvSpPr>
        <p:spPr>
          <a:xfrm>
            <a:off x="868680" y="5029200"/>
            <a:ext cx="548640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チーム15  中川 颯都</a:t>
            </a:r>
            <a:endParaRPr lang="en-US" sz="1600" dirty="0"/>
          </a:p>
        </p:txBody>
      </p:sp>
      <p:sp>
        <p:nvSpPr>
          <p:cNvPr id="6" name="Text 4"/>
          <p:cNvSpPr txBox="1"/>
          <p:nvPr/>
        </p:nvSpPr>
        <p:spPr>
          <a:xfrm>
            <a:off x="8503920" y="2615184"/>
            <a:ext cx="1234440" cy="274320"/>
          </a:xfrm>
          <a:prstGeom prst="rect">
            <a:avLst/>
          </a:prstGeom>
          <a:noFill/>
          <a:ln/>
        </p:spPr>
        <p:txBody>
          <a:bodyPr wrap="square" lIns="0" tIns="0" rIns="0" bIns="0" rtlCol="0" anchor="ctr"/>
          <a:lstStyle/>
          <a:p>
            <a:pPr indent="0" marL="0">
              <a:buNone/>
            </a:pPr>
            <a:r>
              <a:rPr lang="en-US" sz="1200" dirty="0">
                <a:solidFill>
                  <a:srgbClr val="6B7688"/>
                </a:solidFill>
                <a:latin typeface="Calibri" pitchFamily="34" charset="0"/>
                <a:ea typeface="Calibri" pitchFamily="34" charset="-122"/>
                <a:cs typeface="Calibri" pitchFamily="34" charset="-120"/>
              </a:rPr>
              <a:t>怒りの強さ</a:t>
            </a:r>
            <a:endParaRPr lang="en-US" sz="1200" dirty="0"/>
          </a:p>
        </p:txBody>
      </p:sp>
      <p:sp>
        <p:nvSpPr>
          <p:cNvPr id="7" name="Text 5"/>
          <p:cNvSpPr txBox="1"/>
          <p:nvPr/>
        </p:nvSpPr>
        <p:spPr>
          <a:xfrm>
            <a:off x="9875520" y="2560320"/>
            <a:ext cx="1463040" cy="365760"/>
          </a:xfrm>
          <a:prstGeom prst="rect">
            <a:avLst/>
          </a:prstGeom>
          <a:noFill/>
          <a:ln/>
        </p:spPr>
        <p:txBody>
          <a:bodyPr wrap="square" lIns="0" tIns="0" rIns="0" bIns="0" rtlCol="0" anchor="ctr"/>
          <a:lstStyle/>
          <a:p>
            <a:pPr algn="r" indent="0" marL="0">
              <a:buNone/>
            </a:pPr>
            <a:r>
              <a:rPr lang="en-US" sz="2000" b="1" dirty="0">
                <a:solidFill>
                  <a:srgbClr val="C4402A"/>
                </a:solidFill>
                <a:latin typeface="Courier New" pitchFamily="34" charset="0"/>
                <a:ea typeface="Courier New" pitchFamily="34" charset="-122"/>
                <a:cs typeface="Courier New" pitchFamily="34" charset="-120"/>
              </a:rPr>
              <a:t>80</a:t>
            </a:r>
            <a:endParaRPr lang="en-US" sz="2000" dirty="0"/>
          </a:p>
        </p:txBody>
      </p:sp>
      <p:sp>
        <p:nvSpPr>
          <p:cNvPr id="8" name="Shape 6"/>
          <p:cNvSpPr/>
          <p:nvPr/>
        </p:nvSpPr>
        <p:spPr>
          <a:xfrm>
            <a:off x="8503920" y="2926080"/>
            <a:ext cx="2834640" cy="201168"/>
          </a:xfrm>
          <a:prstGeom prst="rect">
            <a:avLst/>
          </a:prstGeom>
          <a:solidFill>
            <a:srgbClr val="F0F2F6"/>
          </a:solidFill>
          <a:ln/>
        </p:spPr>
      </p:sp>
      <p:sp>
        <p:nvSpPr>
          <p:cNvPr id="9" name="Shape 7"/>
          <p:cNvSpPr/>
          <p:nvPr/>
        </p:nvSpPr>
        <p:spPr>
          <a:xfrm>
            <a:off x="8503920" y="2926080"/>
            <a:ext cx="2267712" cy="201168"/>
          </a:xfrm>
          <a:prstGeom prst="rect">
            <a:avLst/>
          </a:prstGeom>
          <a:solidFill>
            <a:srgbClr val="C4402A"/>
          </a:solidFill>
          <a:ln/>
        </p:spPr>
      </p:sp>
      <p:sp>
        <p:nvSpPr>
          <p:cNvPr id="10" name="Text 8"/>
          <p:cNvSpPr txBox="1"/>
          <p:nvPr/>
        </p:nvSpPr>
        <p:spPr>
          <a:xfrm>
            <a:off x="8503920" y="3621024"/>
            <a:ext cx="1234440" cy="274320"/>
          </a:xfrm>
          <a:prstGeom prst="rect">
            <a:avLst/>
          </a:prstGeom>
          <a:noFill/>
          <a:ln/>
        </p:spPr>
        <p:txBody>
          <a:bodyPr wrap="square" lIns="0" tIns="0" rIns="0" bIns="0" rtlCol="0" anchor="ctr"/>
          <a:lstStyle/>
          <a:p>
            <a:pPr indent="0" marL="0">
              <a:buNone/>
            </a:pPr>
            <a:r>
              <a:rPr lang="en-US" sz="1200" dirty="0">
                <a:solidFill>
                  <a:srgbClr val="6B7688"/>
                </a:solidFill>
                <a:latin typeface="Calibri" pitchFamily="34" charset="0"/>
                <a:ea typeface="Calibri" pitchFamily="34" charset="-122"/>
                <a:cs typeface="Calibri" pitchFamily="34" charset="-120"/>
              </a:rPr>
              <a:t>対応のあと</a:t>
            </a:r>
            <a:endParaRPr lang="en-US" sz="1200" dirty="0"/>
          </a:p>
        </p:txBody>
      </p:sp>
      <p:sp>
        <p:nvSpPr>
          <p:cNvPr id="11" name="Text 9"/>
          <p:cNvSpPr txBox="1"/>
          <p:nvPr/>
        </p:nvSpPr>
        <p:spPr>
          <a:xfrm>
            <a:off x="9875520" y="3566160"/>
            <a:ext cx="1463040" cy="365760"/>
          </a:xfrm>
          <a:prstGeom prst="rect">
            <a:avLst/>
          </a:prstGeom>
          <a:noFill/>
          <a:ln/>
        </p:spPr>
        <p:txBody>
          <a:bodyPr wrap="square" lIns="0" tIns="0" rIns="0" bIns="0" rtlCol="0" anchor="ctr"/>
          <a:lstStyle/>
          <a:p>
            <a:pPr algn="r" indent="0" marL="0">
              <a:buNone/>
            </a:pPr>
            <a:r>
              <a:rPr lang="en-US" sz="2000" b="1" dirty="0">
                <a:solidFill>
                  <a:srgbClr val="1F7A56"/>
                </a:solidFill>
                <a:latin typeface="Courier New" pitchFamily="34" charset="0"/>
                <a:ea typeface="Courier New" pitchFamily="34" charset="-122"/>
                <a:cs typeface="Courier New" pitchFamily="34" charset="-120"/>
              </a:rPr>
              <a:t>12</a:t>
            </a:r>
            <a:endParaRPr lang="en-US" sz="2000" dirty="0"/>
          </a:p>
        </p:txBody>
      </p:sp>
      <p:sp>
        <p:nvSpPr>
          <p:cNvPr id="12" name="Shape 10"/>
          <p:cNvSpPr/>
          <p:nvPr/>
        </p:nvSpPr>
        <p:spPr>
          <a:xfrm>
            <a:off x="8503920" y="3931920"/>
            <a:ext cx="2834640" cy="201168"/>
          </a:xfrm>
          <a:prstGeom prst="rect">
            <a:avLst/>
          </a:prstGeom>
          <a:solidFill>
            <a:srgbClr val="F0F2F6"/>
          </a:solidFill>
          <a:ln/>
        </p:spPr>
      </p:sp>
      <p:sp>
        <p:nvSpPr>
          <p:cNvPr id="13" name="Shape 11"/>
          <p:cNvSpPr/>
          <p:nvPr/>
        </p:nvSpPr>
        <p:spPr>
          <a:xfrm>
            <a:off x="8503920" y="3931920"/>
            <a:ext cx="340157" cy="201168"/>
          </a:xfrm>
          <a:prstGeom prst="rect">
            <a:avLst/>
          </a:prstGeom>
          <a:solidFill>
            <a:srgbClr val="1F7A5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D"/>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1B2230"/>
                </a:solidFill>
                <a:latin typeface="Cambria" pitchFamily="34" charset="0"/>
                <a:ea typeface="Cambria" pitchFamily="34" charset="-122"/>
                <a:cs typeface="Cambria" pitchFamily="34" charset="-120"/>
              </a:rPr>
              <a:t>新人は、本番でしか練習できない</a:t>
            </a:r>
            <a:endParaRPr lang="en-US" sz="3600" dirty="0"/>
          </a:p>
        </p:txBody>
      </p:sp>
      <p:sp>
        <p:nvSpPr>
          <p:cNvPr id="3" name="Text 1"/>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500" dirty="0">
                <a:solidFill>
                  <a:srgbClr val="6B7688"/>
                </a:solidFill>
                <a:latin typeface="Calibri" pitchFamily="34" charset="0"/>
                <a:ea typeface="Calibri" pitchFamily="34" charset="-122"/>
                <a:cs typeface="Calibri" pitchFamily="34" charset="-120"/>
              </a:rPr>
              <a:t>クレーム対応の習得には構造的な問題がある</a:t>
            </a:r>
            <a:endParaRPr lang="en-US" sz="1500" dirty="0"/>
          </a:p>
        </p:txBody>
      </p:sp>
      <p:sp>
        <p:nvSpPr>
          <p:cNvPr id="4" name="Shape 2"/>
          <p:cNvSpPr/>
          <p:nvPr/>
        </p:nvSpPr>
        <p:spPr>
          <a:xfrm>
            <a:off x="731520" y="2148840"/>
            <a:ext cx="457200" cy="457200"/>
          </a:xfrm>
          <a:prstGeom prst="ellipse">
            <a:avLst/>
          </a:prstGeom>
          <a:solidFill>
            <a:srgbClr val="C4402A"/>
          </a:solidFill>
          <a:ln/>
        </p:spPr>
      </p:sp>
      <p:sp>
        <p:nvSpPr>
          <p:cNvPr id="5" name="Text 3"/>
          <p:cNvSpPr txBox="1"/>
          <p:nvPr/>
        </p:nvSpPr>
        <p:spPr>
          <a:xfrm>
            <a:off x="731520" y="2148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1</a:t>
            </a:r>
            <a:endParaRPr lang="en-US" sz="1600" dirty="0"/>
          </a:p>
        </p:txBody>
      </p:sp>
      <p:sp>
        <p:nvSpPr>
          <p:cNvPr id="6" name="Text 4"/>
          <p:cNvSpPr txBox="1"/>
          <p:nvPr/>
        </p:nvSpPr>
        <p:spPr>
          <a:xfrm>
            <a:off x="1463040" y="2103120"/>
            <a:ext cx="4754880" cy="365760"/>
          </a:xfrm>
          <a:prstGeom prst="rect">
            <a:avLst/>
          </a:prstGeom>
          <a:noFill/>
          <a:ln/>
        </p:spPr>
        <p:txBody>
          <a:bodyPr wrap="square" lIns="0" tIns="0" rIns="0" bIns="0" rtlCol="0" anchor="ctr"/>
          <a:lstStyle/>
          <a:p>
            <a:pPr indent="0" marL="0">
              <a:buNone/>
            </a:pPr>
            <a:r>
              <a:rPr lang="en-US" sz="2100" b="1" dirty="0">
                <a:solidFill>
                  <a:srgbClr val="1B2230"/>
                </a:solidFill>
                <a:latin typeface="Calibri" pitchFamily="34" charset="0"/>
                <a:ea typeface="Calibri" pitchFamily="34" charset="-122"/>
                <a:cs typeface="Calibri" pitchFamily="34" charset="-120"/>
              </a:rPr>
              <a:t>練習の機会が足りない</a:t>
            </a:r>
            <a:endParaRPr lang="en-US" sz="2100" dirty="0"/>
          </a:p>
        </p:txBody>
      </p:sp>
      <p:sp>
        <p:nvSpPr>
          <p:cNvPr id="7" name="Text 5"/>
          <p:cNvSpPr txBox="1"/>
          <p:nvPr/>
        </p:nvSpPr>
        <p:spPr>
          <a:xfrm>
            <a:off x="1463040" y="2514600"/>
            <a:ext cx="4754880" cy="365760"/>
          </a:xfrm>
          <a:prstGeom prst="rect">
            <a:avLst/>
          </a:prstGeom>
          <a:noFill/>
          <a:ln/>
        </p:spPr>
        <p:txBody>
          <a:bodyPr wrap="square" lIns="0" tIns="0" rIns="0" bIns="0" rtlCol="0" anchor="ctr"/>
          <a:lstStyle/>
          <a:p>
            <a:pPr indent="0" marL="0">
              <a:buNone/>
            </a:pPr>
            <a:r>
              <a:rPr lang="en-US" sz="1400" dirty="0">
                <a:solidFill>
                  <a:srgbClr val="6B7688"/>
                </a:solidFill>
                <a:latin typeface="Calibri" pitchFamily="34" charset="0"/>
                <a:ea typeface="Calibri" pitchFamily="34" charset="-122"/>
                <a:cs typeface="Calibri" pitchFamily="34" charset="-120"/>
              </a:rPr>
              <a:t>ロールプレイ研修は月に1回だけ</a:t>
            </a:r>
            <a:endParaRPr lang="en-US" sz="1400" dirty="0"/>
          </a:p>
        </p:txBody>
      </p:sp>
      <p:sp>
        <p:nvSpPr>
          <p:cNvPr id="8" name="Shape 6"/>
          <p:cNvSpPr/>
          <p:nvPr/>
        </p:nvSpPr>
        <p:spPr>
          <a:xfrm>
            <a:off x="731520" y="3383280"/>
            <a:ext cx="457200" cy="457200"/>
          </a:xfrm>
          <a:prstGeom prst="ellipse">
            <a:avLst/>
          </a:prstGeom>
          <a:solidFill>
            <a:srgbClr val="C4402A"/>
          </a:solidFill>
          <a:ln/>
        </p:spPr>
      </p:sp>
      <p:sp>
        <p:nvSpPr>
          <p:cNvPr id="9" name="Text 7"/>
          <p:cNvSpPr txBox="1"/>
          <p:nvPr/>
        </p:nvSpPr>
        <p:spPr>
          <a:xfrm>
            <a:off x="731520" y="3383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2</a:t>
            </a:r>
            <a:endParaRPr lang="en-US" sz="1600" dirty="0"/>
          </a:p>
        </p:txBody>
      </p:sp>
      <p:sp>
        <p:nvSpPr>
          <p:cNvPr id="10" name="Text 8"/>
          <p:cNvSpPr txBox="1"/>
          <p:nvPr/>
        </p:nvSpPr>
        <p:spPr>
          <a:xfrm>
            <a:off x="1463040" y="3337560"/>
            <a:ext cx="4754880" cy="365760"/>
          </a:xfrm>
          <a:prstGeom prst="rect">
            <a:avLst/>
          </a:prstGeom>
          <a:noFill/>
          <a:ln/>
        </p:spPr>
        <p:txBody>
          <a:bodyPr wrap="square" lIns="0" tIns="0" rIns="0" bIns="0" rtlCol="0" anchor="ctr"/>
          <a:lstStyle/>
          <a:p>
            <a:pPr indent="0" marL="0">
              <a:buNone/>
            </a:pPr>
            <a:r>
              <a:rPr lang="en-US" sz="2100" b="1" dirty="0">
                <a:solidFill>
                  <a:srgbClr val="1B2230"/>
                </a:solidFill>
                <a:latin typeface="Calibri" pitchFamily="34" charset="0"/>
                <a:ea typeface="Calibri" pitchFamily="34" charset="-122"/>
                <a:cs typeface="Calibri" pitchFamily="34" charset="-120"/>
              </a:rPr>
              <a:t>思いきり失敗できない</a:t>
            </a:r>
            <a:endParaRPr lang="en-US" sz="2100" dirty="0"/>
          </a:p>
        </p:txBody>
      </p:sp>
      <p:sp>
        <p:nvSpPr>
          <p:cNvPr id="11" name="Text 9"/>
          <p:cNvSpPr txBox="1"/>
          <p:nvPr/>
        </p:nvSpPr>
        <p:spPr>
          <a:xfrm>
            <a:off x="1463040" y="3749040"/>
            <a:ext cx="4754880" cy="365760"/>
          </a:xfrm>
          <a:prstGeom prst="rect">
            <a:avLst/>
          </a:prstGeom>
          <a:noFill/>
          <a:ln/>
        </p:spPr>
        <p:txBody>
          <a:bodyPr wrap="square" lIns="0" tIns="0" rIns="0" bIns="0" rtlCol="0" anchor="ctr"/>
          <a:lstStyle/>
          <a:p>
            <a:pPr indent="0" marL="0">
              <a:buNone/>
            </a:pPr>
            <a:r>
              <a:rPr lang="en-US" sz="1400" dirty="0">
                <a:solidFill>
                  <a:srgbClr val="6B7688"/>
                </a:solidFill>
                <a:latin typeface="Calibri" pitchFamily="34" charset="0"/>
                <a:ea typeface="Calibri" pitchFamily="34" charset="-122"/>
                <a:cs typeface="Calibri" pitchFamily="34" charset="-120"/>
              </a:rPr>
              <a:t>相手が上司や先輩だと気をつかう</a:t>
            </a:r>
            <a:endParaRPr lang="en-US" sz="1400" dirty="0"/>
          </a:p>
        </p:txBody>
      </p:sp>
      <p:sp>
        <p:nvSpPr>
          <p:cNvPr id="12" name="Shape 10"/>
          <p:cNvSpPr/>
          <p:nvPr/>
        </p:nvSpPr>
        <p:spPr>
          <a:xfrm>
            <a:off x="731520" y="4617720"/>
            <a:ext cx="457200" cy="457200"/>
          </a:xfrm>
          <a:prstGeom prst="ellipse">
            <a:avLst/>
          </a:prstGeom>
          <a:solidFill>
            <a:srgbClr val="C4402A"/>
          </a:solidFill>
          <a:ln/>
        </p:spPr>
      </p:sp>
      <p:sp>
        <p:nvSpPr>
          <p:cNvPr id="13" name="Text 11"/>
          <p:cNvSpPr txBox="1"/>
          <p:nvPr/>
        </p:nvSpPr>
        <p:spPr>
          <a:xfrm>
            <a:off x="731520" y="4617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3</a:t>
            </a:r>
            <a:endParaRPr lang="en-US" sz="1600" dirty="0"/>
          </a:p>
        </p:txBody>
      </p:sp>
      <p:sp>
        <p:nvSpPr>
          <p:cNvPr id="14" name="Text 12"/>
          <p:cNvSpPr txBox="1"/>
          <p:nvPr/>
        </p:nvSpPr>
        <p:spPr>
          <a:xfrm>
            <a:off x="1463040" y="4572000"/>
            <a:ext cx="4754880" cy="365760"/>
          </a:xfrm>
          <a:prstGeom prst="rect">
            <a:avLst/>
          </a:prstGeom>
          <a:noFill/>
          <a:ln/>
        </p:spPr>
        <p:txBody>
          <a:bodyPr wrap="square" lIns="0" tIns="0" rIns="0" bIns="0" rtlCol="0" anchor="ctr"/>
          <a:lstStyle/>
          <a:p>
            <a:pPr indent="0" marL="0">
              <a:buNone/>
            </a:pPr>
            <a:r>
              <a:rPr lang="en-US" sz="2100" b="1" dirty="0">
                <a:solidFill>
                  <a:srgbClr val="1B2230"/>
                </a:solidFill>
                <a:latin typeface="Calibri" pitchFamily="34" charset="0"/>
                <a:ea typeface="Calibri" pitchFamily="34" charset="-122"/>
                <a:cs typeface="Calibri" pitchFamily="34" charset="-120"/>
              </a:rPr>
              <a:t>良し悪しが分からない</a:t>
            </a:r>
            <a:endParaRPr lang="en-US" sz="2100" dirty="0"/>
          </a:p>
        </p:txBody>
      </p:sp>
      <p:sp>
        <p:nvSpPr>
          <p:cNvPr id="15" name="Text 13"/>
          <p:cNvSpPr txBox="1"/>
          <p:nvPr/>
        </p:nvSpPr>
        <p:spPr>
          <a:xfrm>
            <a:off x="1463040" y="4983480"/>
            <a:ext cx="4754880" cy="365760"/>
          </a:xfrm>
          <a:prstGeom prst="rect">
            <a:avLst/>
          </a:prstGeom>
          <a:noFill/>
          <a:ln/>
        </p:spPr>
        <p:txBody>
          <a:bodyPr wrap="square" lIns="0" tIns="0" rIns="0" bIns="0" rtlCol="0" anchor="ctr"/>
          <a:lstStyle/>
          <a:p>
            <a:pPr indent="0" marL="0">
              <a:buNone/>
            </a:pPr>
            <a:r>
              <a:rPr lang="en-US" sz="1400" dirty="0">
                <a:solidFill>
                  <a:srgbClr val="6B7688"/>
                </a:solidFill>
                <a:latin typeface="Calibri" pitchFamily="34" charset="0"/>
                <a:ea typeface="Calibri" pitchFamily="34" charset="-122"/>
                <a:cs typeface="Calibri" pitchFamily="34" charset="-120"/>
              </a:rPr>
              <a:t>自分の対応を測る目安がない</a:t>
            </a:r>
            <a:endParaRPr lang="en-US" sz="1400" dirty="0"/>
          </a:p>
        </p:txBody>
      </p:sp>
      <p:sp>
        <p:nvSpPr>
          <p:cNvPr id="16" name="Shape 14"/>
          <p:cNvSpPr/>
          <p:nvPr/>
        </p:nvSpPr>
        <p:spPr>
          <a:xfrm>
            <a:off x="6949440" y="2103120"/>
            <a:ext cx="4572000" cy="3566160"/>
          </a:xfrm>
          <a:prstGeom prst="roundRect">
            <a:avLst>
              <a:gd name="adj" fmla="val 1538"/>
            </a:avLst>
          </a:prstGeom>
          <a:solidFill>
            <a:srgbClr val="1B2230"/>
          </a:solidFill>
          <a:ln/>
        </p:spPr>
      </p:sp>
      <p:sp>
        <p:nvSpPr>
          <p:cNvPr id="17" name="Text 15"/>
          <p:cNvSpPr txBox="1"/>
          <p:nvPr/>
        </p:nvSpPr>
        <p:spPr>
          <a:xfrm>
            <a:off x="7406640" y="2468880"/>
            <a:ext cx="3657600" cy="274320"/>
          </a:xfrm>
          <a:prstGeom prst="rect">
            <a:avLst/>
          </a:prstGeom>
          <a:noFill/>
          <a:ln/>
        </p:spPr>
        <p:txBody>
          <a:bodyPr wrap="square" lIns="0" tIns="0" rIns="0" bIns="0" rtlCol="0" anchor="ctr"/>
          <a:lstStyle/>
          <a:p>
            <a:pPr indent="0" marL="0">
              <a:buNone/>
            </a:pPr>
            <a:r>
              <a:rPr lang="en-US" sz="1200" spc="200" kern="0" dirty="0">
                <a:solidFill>
                  <a:srgbClr val="6B7688"/>
                </a:solidFill>
                <a:latin typeface="Courier New" pitchFamily="34" charset="0"/>
                <a:ea typeface="Courier New" pitchFamily="34" charset="-122"/>
                <a:cs typeface="Courier New" pitchFamily="34" charset="-120"/>
              </a:rPr>
              <a:t>結果として</a:t>
            </a:r>
            <a:endParaRPr lang="en-US" sz="1200" dirty="0"/>
          </a:p>
        </p:txBody>
      </p:sp>
      <p:sp>
        <p:nvSpPr>
          <p:cNvPr id="18" name="Text 16"/>
          <p:cNvSpPr txBox="1"/>
          <p:nvPr/>
        </p:nvSpPr>
        <p:spPr>
          <a:xfrm>
            <a:off x="7406640" y="2926080"/>
            <a:ext cx="3657600" cy="1645920"/>
          </a:xfrm>
          <a:prstGeom prst="rect">
            <a:avLst/>
          </a:prstGeom>
          <a:noFill/>
          <a:ln/>
        </p:spPr>
        <p:txBody>
          <a:bodyPr wrap="square" lIns="0" tIns="0" rIns="0" bIns="0" rtlCol="0" anchor="ctr"/>
          <a:lstStyle/>
          <a:p>
            <a:pPr indent="0" marL="0">
              <a:lnSpc>
                <a:spcPts val="4000"/>
              </a:lnSpc>
              <a:buNone/>
            </a:pPr>
            <a:r>
              <a:rPr lang="en-US" sz="2800" b="1" dirty="0">
                <a:solidFill>
                  <a:srgbClr val="FFFFFF"/>
                </a:solidFill>
                <a:latin typeface="Cambria" pitchFamily="34" charset="0"/>
                <a:ea typeface="Cambria" pitchFamily="34" charset="-122"/>
                <a:cs typeface="Cambria" pitchFamily="34" charset="-120"/>
              </a:rPr>
              <a:t>本物のお客様に</a:t>
            </a:r>
            <a:endParaRPr lang="en-US" sz="2800" dirty="0"/>
          </a:p>
          <a:p>
            <a:pPr indent="0" marL="0">
              <a:lnSpc>
                <a:spcPts val="4000"/>
              </a:lnSpc>
              <a:buNone/>
            </a:pPr>
            <a:r>
              <a:rPr lang="en-US" sz="2800" b="1" dirty="0">
                <a:solidFill>
                  <a:srgbClr val="FFFFFF"/>
                </a:solidFill>
                <a:latin typeface="Cambria" pitchFamily="34" charset="0"/>
                <a:ea typeface="Cambria" pitchFamily="34" charset="-122"/>
                <a:cs typeface="Cambria" pitchFamily="34" charset="-120"/>
              </a:rPr>
              <a:t>迷惑をかけながら</a:t>
            </a:r>
            <a:endParaRPr lang="en-US" sz="2800" dirty="0"/>
          </a:p>
          <a:p>
            <a:pPr indent="0" marL="0">
              <a:lnSpc>
                <a:spcPts val="4000"/>
              </a:lnSpc>
              <a:buNone/>
            </a:pPr>
            <a:r>
              <a:rPr lang="en-US" sz="2800" b="1" dirty="0">
                <a:solidFill>
                  <a:srgbClr val="FFFFFF"/>
                </a:solidFill>
                <a:latin typeface="Cambria" pitchFamily="34" charset="0"/>
                <a:ea typeface="Cambria" pitchFamily="34" charset="-122"/>
                <a:cs typeface="Cambria" pitchFamily="34" charset="-120"/>
              </a:rPr>
              <a:t>覚えるしかない</a:t>
            </a:r>
            <a:endParaRPr lang="en-US" sz="2800" dirty="0"/>
          </a:p>
        </p:txBody>
      </p:sp>
      <p:sp>
        <p:nvSpPr>
          <p:cNvPr id="19" name="Text 17"/>
          <p:cNvSpPr txBox="1"/>
          <p:nvPr/>
        </p:nvSpPr>
        <p:spPr>
          <a:xfrm>
            <a:off x="7406640" y="4846320"/>
            <a:ext cx="3657600" cy="548640"/>
          </a:xfrm>
          <a:prstGeom prst="rect">
            <a:avLst/>
          </a:prstGeom>
          <a:noFill/>
          <a:ln/>
        </p:spPr>
        <p:txBody>
          <a:bodyPr wrap="square" lIns="0" tIns="0" rIns="0" bIns="0" rtlCol="0" anchor="ctr"/>
          <a:lstStyle/>
          <a:p>
            <a:pPr indent="0" marL="0">
              <a:buNone/>
            </a:pPr>
            <a:r>
              <a:rPr lang="en-US" sz="1300" dirty="0">
                <a:solidFill>
                  <a:srgbClr val="1F7A56"/>
                </a:solidFill>
                <a:latin typeface="Calibri" pitchFamily="34" charset="0"/>
                <a:ea typeface="Calibri" pitchFamily="34" charset="-122"/>
                <a:cs typeface="Calibri" pitchFamily="34" charset="-120"/>
              </a:rPr>
              <a:t>練習の場を切り離して用意すれば、この構造は変えられる</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230"/>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AIをお客様役にして、何度でも練習する</a:t>
            </a:r>
            <a:endParaRPr lang="en-US" sz="3600" dirty="0"/>
          </a:p>
        </p:txBody>
      </p:sp>
      <p:sp>
        <p:nvSpPr>
          <p:cNvPr id="3" name="Text 1"/>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500" dirty="0">
                <a:solidFill>
                  <a:srgbClr val="6B7688"/>
                </a:solidFill>
                <a:latin typeface="Calibri" pitchFamily="34" charset="0"/>
                <a:ea typeface="Calibri" pitchFamily="34" charset="-122"/>
                <a:cs typeface="Calibri" pitchFamily="34" charset="-120"/>
              </a:rPr>
              <a:t>怒りの強さが数値で見えるから、上達が分かる</a:t>
            </a:r>
            <a:endParaRPr lang="en-US" sz="1500" dirty="0"/>
          </a:p>
        </p:txBody>
      </p:sp>
      <p:pic>
        <p:nvPicPr>
          <p:cNvPr id="4" name="Image 0" descr="talking_crop.png">    </p:cNvPr>
          <p:cNvPicPr>
            <a:picLocks noChangeAspect="1"/>
          </p:cNvPicPr>
          <p:nvPr/>
        </p:nvPicPr>
        <p:blipFill>
          <a:blip r:embed="rId1"/>
          <a:stretch>
            <a:fillRect/>
          </a:stretch>
        </p:blipFill>
        <p:spPr>
          <a:xfrm>
            <a:off x="640080" y="1874520"/>
            <a:ext cx="4160520" cy="4480560"/>
          </a:xfrm>
          <a:prstGeom prst="rect">
            <a:avLst/>
          </a:prstGeom>
        </p:spPr>
      </p:pic>
      <p:sp>
        <p:nvSpPr>
          <p:cNvPr id="5" name="Shape 2"/>
          <p:cNvSpPr/>
          <p:nvPr/>
        </p:nvSpPr>
        <p:spPr>
          <a:xfrm>
            <a:off x="5852160" y="2103120"/>
            <a:ext cx="5669280" cy="960120"/>
          </a:xfrm>
          <a:prstGeom prst="roundRect">
            <a:avLst>
              <a:gd name="adj" fmla="val 4762"/>
            </a:avLst>
          </a:prstGeom>
          <a:solidFill>
            <a:srgbClr val="2A3446"/>
          </a:solidFill>
          <a:ln/>
        </p:spPr>
      </p:sp>
      <p:sp>
        <p:nvSpPr>
          <p:cNvPr id="6" name="Text 3"/>
          <p:cNvSpPr txBox="1"/>
          <p:nvPr/>
        </p:nvSpPr>
        <p:spPr>
          <a:xfrm>
            <a:off x="6172200" y="2212848"/>
            <a:ext cx="512064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AIが怒った顧客を演じる</a:t>
            </a:r>
            <a:endParaRPr lang="en-US" sz="1800" dirty="0"/>
          </a:p>
        </p:txBody>
      </p:sp>
      <p:sp>
        <p:nvSpPr>
          <p:cNvPr id="7" name="Text 4"/>
          <p:cNvSpPr txBox="1"/>
          <p:nvPr/>
        </p:nvSpPr>
        <p:spPr>
          <a:xfrm>
            <a:off x="6172200" y="2606040"/>
            <a:ext cx="5120640" cy="320040"/>
          </a:xfrm>
          <a:prstGeom prst="rect">
            <a:avLst/>
          </a:prstGeom>
          <a:noFill/>
          <a:ln/>
        </p:spPr>
        <p:txBody>
          <a:bodyPr wrap="square" lIns="0" tIns="0" rIns="0" bIns="0" rtlCol="0" anchor="ctr"/>
          <a:lstStyle/>
          <a:p>
            <a:pPr indent="0" marL="0">
              <a:buNone/>
            </a:pPr>
            <a:r>
              <a:rPr lang="en-US" sz="1300" dirty="0">
                <a:solidFill>
                  <a:srgbClr val="6B7688"/>
                </a:solidFill>
                <a:latin typeface="Calibri" pitchFamily="34" charset="0"/>
                <a:ea typeface="Calibri" pitchFamily="34" charset="-122"/>
                <a:cs typeface="Calibri" pitchFamily="34" charset="-120"/>
              </a:rPr>
              <a:t>3つの場面 × 3段階の手ごわさ</a:t>
            </a:r>
            <a:endParaRPr lang="en-US" sz="1300" dirty="0"/>
          </a:p>
        </p:txBody>
      </p:sp>
      <p:sp>
        <p:nvSpPr>
          <p:cNvPr id="8" name="Shape 5"/>
          <p:cNvSpPr/>
          <p:nvPr/>
        </p:nvSpPr>
        <p:spPr>
          <a:xfrm>
            <a:off x="5852160" y="3337560"/>
            <a:ext cx="5669280" cy="960120"/>
          </a:xfrm>
          <a:prstGeom prst="roundRect">
            <a:avLst>
              <a:gd name="adj" fmla="val 4762"/>
            </a:avLst>
          </a:prstGeom>
          <a:solidFill>
            <a:srgbClr val="2A3446"/>
          </a:solidFill>
          <a:ln/>
        </p:spPr>
      </p:sp>
      <p:sp>
        <p:nvSpPr>
          <p:cNvPr id="9" name="Text 6"/>
          <p:cNvSpPr txBox="1"/>
          <p:nvPr/>
        </p:nvSpPr>
        <p:spPr>
          <a:xfrm>
            <a:off x="6172200" y="3447288"/>
            <a:ext cx="512064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怒りの強さが数値で動く</a:t>
            </a:r>
            <a:endParaRPr lang="en-US" sz="1800" dirty="0"/>
          </a:p>
        </p:txBody>
      </p:sp>
      <p:sp>
        <p:nvSpPr>
          <p:cNvPr id="10" name="Text 7"/>
          <p:cNvSpPr txBox="1"/>
          <p:nvPr/>
        </p:nvSpPr>
        <p:spPr>
          <a:xfrm>
            <a:off x="6172200" y="3840480"/>
            <a:ext cx="5120640" cy="320040"/>
          </a:xfrm>
          <a:prstGeom prst="rect">
            <a:avLst/>
          </a:prstGeom>
          <a:noFill/>
          <a:ln/>
        </p:spPr>
        <p:txBody>
          <a:bodyPr wrap="square" lIns="0" tIns="0" rIns="0" bIns="0" rtlCol="0" anchor="ctr"/>
          <a:lstStyle/>
          <a:p>
            <a:pPr indent="0" marL="0">
              <a:buNone/>
            </a:pPr>
            <a:r>
              <a:rPr lang="en-US" sz="1300" dirty="0">
                <a:solidFill>
                  <a:srgbClr val="6B7688"/>
                </a:solidFill>
                <a:latin typeface="Calibri" pitchFamily="34" charset="0"/>
                <a:ea typeface="Calibri" pitchFamily="34" charset="-122"/>
                <a:cs typeface="Calibri" pitchFamily="34" charset="-120"/>
              </a:rPr>
              <a:t>自分の一言の効果がその場で分かる</a:t>
            </a:r>
            <a:endParaRPr lang="en-US" sz="1300" dirty="0"/>
          </a:p>
        </p:txBody>
      </p:sp>
      <p:sp>
        <p:nvSpPr>
          <p:cNvPr id="11" name="Shape 8"/>
          <p:cNvSpPr/>
          <p:nvPr/>
        </p:nvSpPr>
        <p:spPr>
          <a:xfrm>
            <a:off x="5852160" y="4572000"/>
            <a:ext cx="5669280" cy="960120"/>
          </a:xfrm>
          <a:prstGeom prst="roundRect">
            <a:avLst>
              <a:gd name="adj" fmla="val 4762"/>
            </a:avLst>
          </a:prstGeom>
          <a:solidFill>
            <a:srgbClr val="2A3446"/>
          </a:solidFill>
          <a:ln/>
        </p:spPr>
      </p:sp>
      <p:sp>
        <p:nvSpPr>
          <p:cNvPr id="12" name="Text 9"/>
          <p:cNvSpPr txBox="1"/>
          <p:nvPr/>
        </p:nvSpPr>
        <p:spPr>
          <a:xfrm>
            <a:off x="6172200" y="4681728"/>
            <a:ext cx="512064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終了後にAIが講評する</a:t>
            </a:r>
            <a:endParaRPr lang="en-US" sz="1800" dirty="0"/>
          </a:p>
        </p:txBody>
      </p:sp>
      <p:sp>
        <p:nvSpPr>
          <p:cNvPr id="13" name="Text 10"/>
          <p:cNvSpPr txBox="1"/>
          <p:nvPr/>
        </p:nvSpPr>
        <p:spPr>
          <a:xfrm>
            <a:off x="6172200" y="5074920"/>
            <a:ext cx="5120640" cy="320040"/>
          </a:xfrm>
          <a:prstGeom prst="rect">
            <a:avLst/>
          </a:prstGeom>
          <a:noFill/>
          <a:ln/>
        </p:spPr>
        <p:txBody>
          <a:bodyPr wrap="square" lIns="0" tIns="0" rIns="0" bIns="0" rtlCol="0" anchor="ctr"/>
          <a:lstStyle/>
          <a:p>
            <a:pPr indent="0" marL="0">
              <a:buNone/>
            </a:pPr>
            <a:r>
              <a:rPr lang="en-US" sz="1300" dirty="0">
                <a:solidFill>
                  <a:srgbClr val="6B7688"/>
                </a:solidFill>
                <a:latin typeface="Calibri" pitchFamily="34" charset="0"/>
                <a:ea typeface="Calibri" pitchFamily="34" charset="-122"/>
                <a:cs typeface="Calibri" pitchFamily="34" charset="-120"/>
              </a:rPr>
              <a:t>傾聴・謝罪・解決策の3観点で採点</a:t>
            </a:r>
            <a:endParaRPr lang="en-US" sz="1300" dirty="0"/>
          </a:p>
        </p:txBody>
      </p:sp>
      <p:sp>
        <p:nvSpPr>
          <p:cNvPr id="14" name="Text 11"/>
          <p:cNvSpPr txBox="1"/>
          <p:nvPr/>
        </p:nvSpPr>
        <p:spPr>
          <a:xfrm>
            <a:off x="5852160" y="5943600"/>
            <a:ext cx="5669280" cy="457200"/>
          </a:xfrm>
          <a:prstGeom prst="rect">
            <a:avLst/>
          </a:prstGeom>
          <a:noFill/>
          <a:ln/>
        </p:spPr>
        <p:txBody>
          <a:bodyPr wrap="square" lIns="0" tIns="0" rIns="0" bIns="0" rtlCol="0" anchor="ctr"/>
          <a:lstStyle/>
          <a:p>
            <a:pPr indent="0" marL="0">
              <a:buNone/>
            </a:pPr>
            <a:r>
              <a:rPr lang="en-US" sz="1300" dirty="0">
                <a:solidFill>
                  <a:srgbClr val="B57B12"/>
                </a:solidFill>
                <a:latin typeface="Calibri" pitchFamily="34" charset="0"/>
                <a:ea typeface="Calibri" pitchFamily="34" charset="-122"/>
                <a:cs typeface="Calibri" pitchFamily="34" charset="-120"/>
              </a:rPr>
              <a:t>チャットアプリではなく、相手の状態を計器で読む「訓練コンソール」として設計</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230"/>
        </a:solidFill>
      </p:bgPr>
    </p:bg>
    <p:spTree>
      <p:nvGrpSpPr>
        <p:cNvPr id="1" name=""/>
        <p:cNvGrpSpPr/>
        <p:nvPr/>
      </p:nvGrpSpPr>
      <p:grpSpPr>
        <a:xfrm>
          <a:off x="0" y="0"/>
          <a:ext cx="0" cy="0"/>
          <a:chOff x="0" y="0"/>
          <a:chExt cx="0" cy="0"/>
        </a:xfrm>
      </p:grpSpPr>
      <p:sp>
        <p:nvSpPr>
          <p:cNvPr id="2" name="Text 0"/>
          <p:cNvSpPr txBox="1"/>
          <p:nvPr/>
        </p:nvSpPr>
        <p:spPr>
          <a:xfrm>
            <a:off x="822960" y="2377440"/>
            <a:ext cx="54864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実演デモ</a:t>
            </a:r>
            <a:endParaRPr lang="en-US" sz="5400" dirty="0"/>
          </a:p>
        </p:txBody>
      </p:sp>
      <p:sp>
        <p:nvSpPr>
          <p:cNvPr id="3" name="Text 1"/>
          <p:cNvSpPr txBox="1"/>
          <p:nvPr/>
        </p:nvSpPr>
        <p:spPr>
          <a:xfrm>
            <a:off x="868680" y="3566160"/>
            <a:ext cx="5486400" cy="457200"/>
          </a:xfrm>
          <a:prstGeom prst="rect">
            <a:avLst/>
          </a:prstGeom>
          <a:noFill/>
          <a:ln/>
        </p:spPr>
        <p:txBody>
          <a:bodyPr wrap="square" lIns="0" tIns="0" rIns="0" bIns="0" rtlCol="0" anchor="ctr"/>
          <a:lstStyle/>
          <a:p>
            <a:pPr indent="0" marL="0">
              <a:buNone/>
            </a:pPr>
            <a:r>
              <a:rPr lang="en-US" sz="1700" dirty="0">
                <a:solidFill>
                  <a:srgbClr val="6B7688"/>
                </a:solidFill>
                <a:latin typeface="Calibri" pitchFamily="34" charset="0"/>
                <a:ea typeface="Calibri" pitchFamily="34" charset="-122"/>
                <a:cs typeface="Calibri" pitchFamily="34" charset="-120"/>
              </a:rPr>
              <a:t>商品の不具合 ／ ふつう で実際に対応します</a:t>
            </a:r>
            <a:endParaRPr lang="en-US" sz="1700" dirty="0"/>
          </a:p>
        </p:txBody>
      </p:sp>
      <p:sp>
        <p:nvSpPr>
          <p:cNvPr id="4" name="Text 2"/>
          <p:cNvSpPr txBox="1"/>
          <p:nvPr/>
        </p:nvSpPr>
        <p:spPr>
          <a:xfrm>
            <a:off x="7315200" y="2432304"/>
            <a:ext cx="2331720" cy="274320"/>
          </a:xfrm>
          <a:prstGeom prst="rect">
            <a:avLst/>
          </a:prstGeom>
          <a:noFill/>
          <a:ln/>
        </p:spPr>
        <p:txBody>
          <a:bodyPr wrap="square" lIns="0" tIns="0" rIns="0" bIns="0" rtlCol="0" anchor="ctr"/>
          <a:lstStyle/>
          <a:p>
            <a:pPr indent="0" marL="0">
              <a:buNone/>
            </a:pPr>
            <a:r>
              <a:rPr lang="en-US" sz="1200" dirty="0">
                <a:solidFill>
                  <a:srgbClr val="6B7688"/>
                </a:solidFill>
                <a:latin typeface="Calibri" pitchFamily="34" charset="0"/>
                <a:ea typeface="Calibri" pitchFamily="34" charset="-122"/>
                <a:cs typeface="Calibri" pitchFamily="34" charset="-120"/>
              </a:rPr>
              <a:t>開始時</a:t>
            </a:r>
            <a:endParaRPr lang="en-US" sz="1200" dirty="0"/>
          </a:p>
        </p:txBody>
      </p:sp>
      <p:sp>
        <p:nvSpPr>
          <p:cNvPr id="5" name="Text 3"/>
          <p:cNvSpPr txBox="1"/>
          <p:nvPr/>
        </p:nvSpPr>
        <p:spPr>
          <a:xfrm>
            <a:off x="9784080" y="2377440"/>
            <a:ext cx="1463040" cy="365760"/>
          </a:xfrm>
          <a:prstGeom prst="rect">
            <a:avLst/>
          </a:prstGeom>
          <a:noFill/>
          <a:ln/>
        </p:spPr>
        <p:txBody>
          <a:bodyPr wrap="square" lIns="0" tIns="0" rIns="0" bIns="0" rtlCol="0" anchor="ctr"/>
          <a:lstStyle/>
          <a:p>
            <a:pPr algn="r" indent="0" marL="0">
              <a:buNone/>
            </a:pPr>
            <a:r>
              <a:rPr lang="en-US" sz="2000" b="1" dirty="0">
                <a:solidFill>
                  <a:srgbClr val="C4402A"/>
                </a:solidFill>
                <a:latin typeface="Courier New" pitchFamily="34" charset="0"/>
                <a:ea typeface="Courier New" pitchFamily="34" charset="-122"/>
                <a:cs typeface="Courier New" pitchFamily="34" charset="-120"/>
              </a:rPr>
              <a:t>80</a:t>
            </a:r>
            <a:endParaRPr lang="en-US" sz="2000" dirty="0"/>
          </a:p>
        </p:txBody>
      </p:sp>
      <p:sp>
        <p:nvSpPr>
          <p:cNvPr id="6" name="Shape 4"/>
          <p:cNvSpPr/>
          <p:nvPr/>
        </p:nvSpPr>
        <p:spPr>
          <a:xfrm>
            <a:off x="7315200" y="2743200"/>
            <a:ext cx="3931920" cy="201168"/>
          </a:xfrm>
          <a:prstGeom prst="rect">
            <a:avLst/>
          </a:prstGeom>
          <a:solidFill>
            <a:srgbClr val="F0F2F6"/>
          </a:solidFill>
          <a:ln/>
        </p:spPr>
      </p:sp>
      <p:sp>
        <p:nvSpPr>
          <p:cNvPr id="7" name="Shape 5"/>
          <p:cNvSpPr/>
          <p:nvPr/>
        </p:nvSpPr>
        <p:spPr>
          <a:xfrm>
            <a:off x="7315200" y="2743200"/>
            <a:ext cx="3145536" cy="201168"/>
          </a:xfrm>
          <a:prstGeom prst="rect">
            <a:avLst/>
          </a:prstGeom>
          <a:solidFill>
            <a:srgbClr val="C4402A"/>
          </a:solidFill>
          <a:ln/>
        </p:spPr>
      </p:sp>
      <p:sp>
        <p:nvSpPr>
          <p:cNvPr id="8" name="Text 6"/>
          <p:cNvSpPr txBox="1"/>
          <p:nvPr/>
        </p:nvSpPr>
        <p:spPr>
          <a:xfrm>
            <a:off x="7315200" y="3200400"/>
            <a:ext cx="3931920" cy="548640"/>
          </a:xfrm>
          <a:prstGeom prst="rect">
            <a:avLst/>
          </a:prstGeom>
          <a:noFill/>
          <a:ln/>
        </p:spPr>
        <p:txBody>
          <a:bodyPr wrap="square" lIns="0" tIns="0" rIns="0" bIns="0" rtlCol="0" anchor="ctr"/>
          <a:lstStyle/>
          <a:p>
            <a:pPr algn="ctr" indent="0" marL="0">
              <a:buNone/>
            </a:pPr>
            <a:r>
              <a:rPr lang="en-US" sz="2400" dirty="0">
                <a:solidFill>
                  <a:srgbClr val="6B7688"/>
                </a:solidFill>
              </a:rPr>
              <a:t>↓</a:t>
            </a:r>
            <a:endParaRPr lang="en-US" sz="2400" dirty="0"/>
          </a:p>
        </p:txBody>
      </p:sp>
      <p:sp>
        <p:nvSpPr>
          <p:cNvPr id="9" name="Text 7"/>
          <p:cNvSpPr txBox="1"/>
          <p:nvPr/>
        </p:nvSpPr>
        <p:spPr>
          <a:xfrm>
            <a:off x="7315200" y="3895344"/>
            <a:ext cx="2331720" cy="274320"/>
          </a:xfrm>
          <a:prstGeom prst="rect">
            <a:avLst/>
          </a:prstGeom>
          <a:noFill/>
          <a:ln/>
        </p:spPr>
        <p:txBody>
          <a:bodyPr wrap="square" lIns="0" tIns="0" rIns="0" bIns="0" rtlCol="0" anchor="ctr"/>
          <a:lstStyle/>
          <a:p>
            <a:pPr indent="0" marL="0">
              <a:buNone/>
            </a:pPr>
            <a:r>
              <a:rPr lang="en-US" sz="1200" dirty="0">
                <a:solidFill>
                  <a:srgbClr val="6B7688"/>
                </a:solidFill>
                <a:latin typeface="Calibri" pitchFamily="34" charset="0"/>
                <a:ea typeface="Calibri" pitchFamily="34" charset="-122"/>
                <a:cs typeface="Calibri" pitchFamily="34" charset="-120"/>
              </a:rPr>
              <a:t>目標</a:t>
            </a:r>
            <a:endParaRPr lang="en-US" sz="1200" dirty="0"/>
          </a:p>
        </p:txBody>
      </p:sp>
      <p:sp>
        <p:nvSpPr>
          <p:cNvPr id="10" name="Text 8"/>
          <p:cNvSpPr txBox="1"/>
          <p:nvPr/>
        </p:nvSpPr>
        <p:spPr>
          <a:xfrm>
            <a:off x="9784080" y="3840480"/>
            <a:ext cx="1463040" cy="365760"/>
          </a:xfrm>
          <a:prstGeom prst="rect">
            <a:avLst/>
          </a:prstGeom>
          <a:noFill/>
          <a:ln/>
        </p:spPr>
        <p:txBody>
          <a:bodyPr wrap="square" lIns="0" tIns="0" rIns="0" bIns="0" rtlCol="0" anchor="ctr"/>
          <a:lstStyle/>
          <a:p>
            <a:pPr algn="r" indent="0" marL="0">
              <a:buNone/>
            </a:pPr>
            <a:r>
              <a:rPr lang="en-US" sz="2000" b="1" dirty="0">
                <a:solidFill>
                  <a:srgbClr val="1F7A56"/>
                </a:solidFill>
                <a:latin typeface="Courier New" pitchFamily="34" charset="0"/>
                <a:ea typeface="Courier New" pitchFamily="34" charset="-122"/>
                <a:cs typeface="Courier New" pitchFamily="34" charset="-120"/>
              </a:rPr>
              <a:t>15 以下</a:t>
            </a:r>
            <a:endParaRPr lang="en-US" sz="2000" dirty="0"/>
          </a:p>
        </p:txBody>
      </p:sp>
      <p:sp>
        <p:nvSpPr>
          <p:cNvPr id="11" name="Shape 9"/>
          <p:cNvSpPr/>
          <p:nvPr/>
        </p:nvSpPr>
        <p:spPr>
          <a:xfrm>
            <a:off x="7315200" y="4206240"/>
            <a:ext cx="3931920" cy="201168"/>
          </a:xfrm>
          <a:prstGeom prst="rect">
            <a:avLst/>
          </a:prstGeom>
          <a:solidFill>
            <a:srgbClr val="F0F2F6"/>
          </a:solidFill>
          <a:ln/>
        </p:spPr>
      </p:sp>
      <p:sp>
        <p:nvSpPr>
          <p:cNvPr id="12" name="Shape 10"/>
          <p:cNvSpPr/>
          <p:nvPr/>
        </p:nvSpPr>
        <p:spPr>
          <a:xfrm>
            <a:off x="7315200" y="4206240"/>
            <a:ext cx="589788" cy="201168"/>
          </a:xfrm>
          <a:prstGeom prst="rect">
            <a:avLst/>
          </a:prstGeom>
          <a:solidFill>
            <a:srgbClr val="1F7A56"/>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D"/>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1B2230"/>
                </a:solidFill>
                <a:latin typeface="Cambria" pitchFamily="34" charset="0"/>
                <a:ea typeface="Cambria" pitchFamily="34" charset="-122"/>
                <a:cs typeface="Cambria" pitchFamily="34" charset="-120"/>
              </a:rPr>
              <a:t>3層構成とデータの流れ</a:t>
            </a:r>
            <a:endParaRPr lang="en-US" sz="3600" dirty="0"/>
          </a:p>
        </p:txBody>
      </p:sp>
      <p:sp>
        <p:nvSpPr>
          <p:cNvPr id="3" name="Text 1"/>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500" dirty="0">
                <a:solidFill>
                  <a:srgbClr val="6B7688"/>
                </a:solidFill>
                <a:latin typeface="Calibri" pitchFamily="34" charset="0"/>
                <a:ea typeface="Calibri" pitchFamily="34" charset="-122"/>
                <a:cs typeface="Calibri" pitchFamily="34" charset="-120"/>
              </a:rPr>
              <a:t>サーバーは何も覚えない。ブラウザが会話と怒りを保持する</a:t>
            </a:r>
            <a:endParaRPr lang="en-US" sz="1500" dirty="0"/>
          </a:p>
        </p:txBody>
      </p:sp>
      <p:sp>
        <p:nvSpPr>
          <p:cNvPr id="4" name="Shape 2"/>
          <p:cNvSpPr/>
          <p:nvPr/>
        </p:nvSpPr>
        <p:spPr>
          <a:xfrm>
            <a:off x="731520" y="2377440"/>
            <a:ext cx="2834640" cy="2011680"/>
          </a:xfrm>
          <a:prstGeom prst="roundRect">
            <a:avLst>
              <a:gd name="adj" fmla="val 2727"/>
            </a:avLst>
          </a:prstGeom>
          <a:solidFill>
            <a:srgbClr val="1B2230"/>
          </a:solidFill>
          <a:ln/>
        </p:spPr>
      </p:sp>
      <p:sp>
        <p:nvSpPr>
          <p:cNvPr id="5" name="Text 3"/>
          <p:cNvSpPr txBox="1"/>
          <p:nvPr/>
        </p:nvSpPr>
        <p:spPr>
          <a:xfrm>
            <a:off x="1005840" y="2606040"/>
            <a:ext cx="22860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ブラウザ</a:t>
            </a:r>
            <a:endParaRPr lang="en-US" sz="2000" dirty="0"/>
          </a:p>
        </p:txBody>
      </p:sp>
      <p:sp>
        <p:nvSpPr>
          <p:cNvPr id="6" name="Text 4"/>
          <p:cNvSpPr txBox="1"/>
          <p:nvPr/>
        </p:nvSpPr>
        <p:spPr>
          <a:xfrm>
            <a:off x="1005840" y="2971800"/>
            <a:ext cx="2286000" cy="274320"/>
          </a:xfrm>
          <a:prstGeom prst="rect">
            <a:avLst/>
          </a:prstGeom>
          <a:noFill/>
          <a:ln/>
        </p:spPr>
        <p:txBody>
          <a:bodyPr wrap="square" lIns="0" tIns="0" rIns="0" bIns="0" rtlCol="0" anchor="ctr"/>
          <a:lstStyle/>
          <a:p>
            <a:pPr indent="0" marL="0">
              <a:buNone/>
            </a:pPr>
            <a:r>
              <a:rPr lang="en-US" sz="1100" dirty="0">
                <a:solidFill>
                  <a:srgbClr val="B57B12"/>
                </a:solidFill>
                <a:latin typeface="Courier New" pitchFamily="34" charset="0"/>
                <a:ea typeface="Courier New" pitchFamily="34" charset="-122"/>
                <a:cs typeface="Courier New" pitchFamily="34" charset="-120"/>
              </a:rPr>
              <a:t>Vue.js</a:t>
            </a:r>
            <a:endParaRPr lang="en-US" sz="1100" dirty="0"/>
          </a:p>
        </p:txBody>
      </p:sp>
      <p:sp>
        <p:nvSpPr>
          <p:cNvPr id="7" name="Text 5"/>
          <p:cNvSpPr txBox="1"/>
          <p:nvPr/>
        </p:nvSpPr>
        <p:spPr>
          <a:xfrm>
            <a:off x="1005840" y="3337560"/>
            <a:ext cx="2286000" cy="822960"/>
          </a:xfrm>
          <a:prstGeom prst="rect">
            <a:avLst/>
          </a:prstGeom>
          <a:noFill/>
          <a:ln/>
        </p:spPr>
        <p:txBody>
          <a:bodyPr wrap="square" lIns="0" tIns="0" rIns="0" bIns="0" rtlCol="0" anchor="ctr"/>
          <a:lstStyle/>
          <a:p>
            <a:pPr indent="0" marL="0">
              <a:lnSpc>
                <a:spcPts val="1800"/>
              </a:lnSpc>
              <a:buNone/>
            </a:pPr>
            <a:r>
              <a:rPr lang="en-US" sz="1300" dirty="0">
                <a:solidFill>
                  <a:srgbClr val="6B7688"/>
                </a:solidFill>
                <a:latin typeface="Calibri" pitchFamily="34" charset="0"/>
                <a:ea typeface="Calibri" pitchFamily="34" charset="-122"/>
                <a:cs typeface="Calibri" pitchFamily="34" charset="-120"/>
              </a:rPr>
              <a:t>画面を描く</a:t>
            </a:r>
            <a:endParaRPr lang="en-US" sz="1300" dirty="0"/>
          </a:p>
          <a:p>
            <a:pPr indent="0" marL="0">
              <a:lnSpc>
                <a:spcPts val="1800"/>
              </a:lnSpc>
              <a:buNone/>
            </a:pPr>
            <a:r>
              <a:rPr lang="en-US" sz="1300" dirty="0">
                <a:solidFill>
                  <a:srgbClr val="6B7688"/>
                </a:solidFill>
                <a:latin typeface="Calibri" pitchFamily="34" charset="0"/>
                <a:ea typeface="Calibri" pitchFamily="34" charset="-122"/>
                <a:cs typeface="Calibri" pitchFamily="34" charset="-120"/>
              </a:rPr>
              <a:t>会話と怒りを保持</a:t>
            </a:r>
            <a:endParaRPr lang="en-US" sz="1300" dirty="0"/>
          </a:p>
        </p:txBody>
      </p:sp>
      <p:sp>
        <p:nvSpPr>
          <p:cNvPr id="8" name="Shape 6"/>
          <p:cNvSpPr/>
          <p:nvPr/>
        </p:nvSpPr>
        <p:spPr>
          <a:xfrm>
            <a:off x="4663440" y="2377440"/>
            <a:ext cx="2834640" cy="2011680"/>
          </a:xfrm>
          <a:prstGeom prst="roundRect">
            <a:avLst>
              <a:gd name="adj" fmla="val 2727"/>
            </a:avLst>
          </a:prstGeom>
          <a:solidFill>
            <a:srgbClr val="1B2230"/>
          </a:solidFill>
          <a:ln/>
        </p:spPr>
      </p:sp>
      <p:sp>
        <p:nvSpPr>
          <p:cNvPr id="9" name="Text 7"/>
          <p:cNvSpPr txBox="1"/>
          <p:nvPr/>
        </p:nvSpPr>
        <p:spPr>
          <a:xfrm>
            <a:off x="4937760" y="2606040"/>
            <a:ext cx="22860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サーバー</a:t>
            </a:r>
            <a:endParaRPr lang="en-US" sz="2000" dirty="0"/>
          </a:p>
        </p:txBody>
      </p:sp>
      <p:sp>
        <p:nvSpPr>
          <p:cNvPr id="10" name="Text 8"/>
          <p:cNvSpPr txBox="1"/>
          <p:nvPr/>
        </p:nvSpPr>
        <p:spPr>
          <a:xfrm>
            <a:off x="4937760" y="2971800"/>
            <a:ext cx="2286000" cy="274320"/>
          </a:xfrm>
          <a:prstGeom prst="rect">
            <a:avLst/>
          </a:prstGeom>
          <a:noFill/>
          <a:ln/>
        </p:spPr>
        <p:txBody>
          <a:bodyPr wrap="square" lIns="0" tIns="0" rIns="0" bIns="0" rtlCol="0" anchor="ctr"/>
          <a:lstStyle/>
          <a:p>
            <a:pPr indent="0" marL="0">
              <a:buNone/>
            </a:pPr>
            <a:r>
              <a:rPr lang="en-US" sz="1100" dirty="0">
                <a:solidFill>
                  <a:srgbClr val="B57B12"/>
                </a:solidFill>
                <a:latin typeface="Courier New" pitchFamily="34" charset="0"/>
                <a:ea typeface="Courier New" pitchFamily="34" charset="-122"/>
                <a:cs typeface="Courier New" pitchFamily="34" charset="-120"/>
              </a:rPr>
              <a:t>Flask</a:t>
            </a:r>
            <a:endParaRPr lang="en-US" sz="1100" dirty="0"/>
          </a:p>
        </p:txBody>
      </p:sp>
      <p:sp>
        <p:nvSpPr>
          <p:cNvPr id="11" name="Text 9"/>
          <p:cNvSpPr txBox="1"/>
          <p:nvPr/>
        </p:nvSpPr>
        <p:spPr>
          <a:xfrm>
            <a:off x="4937760" y="3337560"/>
            <a:ext cx="2286000" cy="822960"/>
          </a:xfrm>
          <a:prstGeom prst="rect">
            <a:avLst/>
          </a:prstGeom>
          <a:noFill/>
          <a:ln/>
        </p:spPr>
        <p:txBody>
          <a:bodyPr wrap="square" lIns="0" tIns="0" rIns="0" bIns="0" rtlCol="0" anchor="ctr"/>
          <a:lstStyle/>
          <a:p>
            <a:pPr indent="0" marL="0">
              <a:lnSpc>
                <a:spcPts val="1800"/>
              </a:lnSpc>
              <a:buNone/>
            </a:pPr>
            <a:r>
              <a:rPr lang="en-US" sz="1300" dirty="0">
                <a:solidFill>
                  <a:srgbClr val="6B7688"/>
                </a:solidFill>
                <a:latin typeface="Calibri" pitchFamily="34" charset="0"/>
                <a:ea typeface="Calibri" pitchFamily="34" charset="-122"/>
                <a:cs typeface="Calibri" pitchFamily="34" charset="-120"/>
              </a:rPr>
              <a:t>指示文を組み立てる</a:t>
            </a:r>
            <a:endParaRPr lang="en-US" sz="1300" dirty="0"/>
          </a:p>
          <a:p>
            <a:pPr indent="0" marL="0">
              <a:lnSpc>
                <a:spcPts val="1800"/>
              </a:lnSpc>
              <a:buNone/>
            </a:pPr>
            <a:r>
              <a:rPr lang="en-US" sz="1300" dirty="0">
                <a:solidFill>
                  <a:srgbClr val="6B7688"/>
                </a:solidFill>
                <a:latin typeface="Calibri" pitchFamily="34" charset="0"/>
                <a:ea typeface="Calibri" pitchFamily="34" charset="-122"/>
                <a:cs typeface="Calibri" pitchFamily="34" charset="-120"/>
              </a:rPr>
              <a:t>返答を読み解く</a:t>
            </a:r>
            <a:endParaRPr lang="en-US" sz="1300" dirty="0"/>
          </a:p>
        </p:txBody>
      </p:sp>
      <p:sp>
        <p:nvSpPr>
          <p:cNvPr id="12" name="Shape 10"/>
          <p:cNvSpPr/>
          <p:nvPr/>
        </p:nvSpPr>
        <p:spPr>
          <a:xfrm>
            <a:off x="8595360" y="2377440"/>
            <a:ext cx="2834640" cy="2011680"/>
          </a:xfrm>
          <a:prstGeom prst="roundRect">
            <a:avLst>
              <a:gd name="adj" fmla="val 2727"/>
            </a:avLst>
          </a:prstGeom>
          <a:solidFill>
            <a:srgbClr val="1B2230"/>
          </a:solidFill>
          <a:ln/>
        </p:spPr>
      </p:sp>
      <p:sp>
        <p:nvSpPr>
          <p:cNvPr id="13" name="Text 11"/>
          <p:cNvSpPr txBox="1"/>
          <p:nvPr/>
        </p:nvSpPr>
        <p:spPr>
          <a:xfrm>
            <a:off x="8869680" y="2606040"/>
            <a:ext cx="22860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AI</a:t>
            </a:r>
            <a:endParaRPr lang="en-US" sz="2000" dirty="0"/>
          </a:p>
        </p:txBody>
      </p:sp>
      <p:sp>
        <p:nvSpPr>
          <p:cNvPr id="14" name="Text 12"/>
          <p:cNvSpPr txBox="1"/>
          <p:nvPr/>
        </p:nvSpPr>
        <p:spPr>
          <a:xfrm>
            <a:off x="8869680" y="2971800"/>
            <a:ext cx="2286000" cy="274320"/>
          </a:xfrm>
          <a:prstGeom prst="rect">
            <a:avLst/>
          </a:prstGeom>
          <a:noFill/>
          <a:ln/>
        </p:spPr>
        <p:txBody>
          <a:bodyPr wrap="square" lIns="0" tIns="0" rIns="0" bIns="0" rtlCol="0" anchor="ctr"/>
          <a:lstStyle/>
          <a:p>
            <a:pPr indent="0" marL="0">
              <a:buNone/>
            </a:pPr>
            <a:r>
              <a:rPr lang="en-US" sz="1100" dirty="0">
                <a:solidFill>
                  <a:srgbClr val="B57B12"/>
                </a:solidFill>
                <a:latin typeface="Courier New" pitchFamily="34" charset="0"/>
                <a:ea typeface="Courier New" pitchFamily="34" charset="-122"/>
                <a:cs typeface="Courier New" pitchFamily="34" charset="-120"/>
              </a:rPr>
              <a:t>Ollama / gemma2:9b</a:t>
            </a:r>
            <a:endParaRPr lang="en-US" sz="1100" dirty="0"/>
          </a:p>
        </p:txBody>
      </p:sp>
      <p:sp>
        <p:nvSpPr>
          <p:cNvPr id="15" name="Text 13"/>
          <p:cNvSpPr txBox="1"/>
          <p:nvPr/>
        </p:nvSpPr>
        <p:spPr>
          <a:xfrm>
            <a:off x="8869680" y="3337560"/>
            <a:ext cx="2286000" cy="822960"/>
          </a:xfrm>
          <a:prstGeom prst="rect">
            <a:avLst/>
          </a:prstGeom>
          <a:noFill/>
          <a:ln/>
        </p:spPr>
        <p:txBody>
          <a:bodyPr wrap="square" lIns="0" tIns="0" rIns="0" bIns="0" rtlCol="0" anchor="ctr"/>
          <a:lstStyle/>
          <a:p>
            <a:pPr indent="0" marL="0">
              <a:lnSpc>
                <a:spcPts val="1800"/>
              </a:lnSpc>
              <a:buNone/>
            </a:pPr>
            <a:r>
              <a:rPr lang="en-US" sz="1300" dirty="0">
                <a:solidFill>
                  <a:srgbClr val="6B7688"/>
                </a:solidFill>
                <a:latin typeface="Calibri" pitchFamily="34" charset="0"/>
                <a:ea typeface="Calibri" pitchFamily="34" charset="-122"/>
                <a:cs typeface="Calibri" pitchFamily="34" charset="-120"/>
              </a:rPr>
              <a:t>顧客のセリフと</a:t>
            </a:r>
            <a:endParaRPr lang="en-US" sz="1300" dirty="0"/>
          </a:p>
          <a:p>
            <a:pPr indent="0" marL="0">
              <a:lnSpc>
                <a:spcPts val="1800"/>
              </a:lnSpc>
              <a:buNone/>
            </a:pPr>
            <a:r>
              <a:rPr lang="en-US" sz="1300" dirty="0">
                <a:solidFill>
                  <a:srgbClr val="6B7688"/>
                </a:solidFill>
                <a:latin typeface="Calibri" pitchFamily="34" charset="0"/>
                <a:ea typeface="Calibri" pitchFamily="34" charset="-122"/>
                <a:cs typeface="Calibri" pitchFamily="34" charset="-120"/>
              </a:rPr>
              <a:t>怒りの値を作る</a:t>
            </a:r>
            <a:endParaRPr lang="en-US" sz="1300" dirty="0"/>
          </a:p>
        </p:txBody>
      </p:sp>
      <p:sp>
        <p:nvSpPr>
          <p:cNvPr id="16" name="Shape 14"/>
          <p:cNvSpPr/>
          <p:nvPr/>
        </p:nvSpPr>
        <p:spPr>
          <a:xfrm>
            <a:off x="3566160" y="3383280"/>
            <a:ext cx="1097280" cy="0"/>
          </a:xfrm>
          <a:prstGeom prst="line">
            <a:avLst/>
          </a:prstGeom>
          <a:noFill/>
          <a:ln w="25400">
            <a:solidFill>
              <a:srgbClr val="C4402A"/>
            </a:solidFill>
            <a:prstDash val="solid"/>
            <a:tailEnd type="triangle"/>
          </a:ln>
        </p:spPr>
      </p:sp>
      <p:sp>
        <p:nvSpPr>
          <p:cNvPr id="17" name="Text 15"/>
          <p:cNvSpPr txBox="1"/>
          <p:nvPr/>
        </p:nvSpPr>
        <p:spPr>
          <a:xfrm>
            <a:off x="3429000" y="3520440"/>
            <a:ext cx="1371600" cy="274320"/>
          </a:xfrm>
          <a:prstGeom prst="rect">
            <a:avLst/>
          </a:prstGeom>
          <a:noFill/>
          <a:ln/>
        </p:spPr>
        <p:txBody>
          <a:bodyPr wrap="square" lIns="0" tIns="0" rIns="0" bIns="0" rtlCol="0" anchor="ctr"/>
          <a:lstStyle/>
          <a:p>
            <a:pPr algn="ctr" indent="0" marL="0">
              <a:buNone/>
            </a:pPr>
            <a:r>
              <a:rPr lang="en-US" sz="1000" dirty="0">
                <a:solidFill>
                  <a:srgbClr val="6B7688"/>
                </a:solidFill>
                <a:latin typeface="Courier New" pitchFamily="34" charset="0"/>
                <a:ea typeface="Courier New" pitchFamily="34" charset="-122"/>
                <a:cs typeface="Courier New" pitchFamily="34" charset="-120"/>
              </a:rPr>
              <a:t>HTTP / JSON</a:t>
            </a:r>
            <a:endParaRPr lang="en-US" sz="1000" dirty="0"/>
          </a:p>
        </p:txBody>
      </p:sp>
      <p:sp>
        <p:nvSpPr>
          <p:cNvPr id="18" name="Shape 16"/>
          <p:cNvSpPr/>
          <p:nvPr/>
        </p:nvSpPr>
        <p:spPr>
          <a:xfrm>
            <a:off x="7498080" y="3383280"/>
            <a:ext cx="1097280" cy="0"/>
          </a:xfrm>
          <a:prstGeom prst="line">
            <a:avLst/>
          </a:prstGeom>
          <a:noFill/>
          <a:ln w="25400">
            <a:solidFill>
              <a:srgbClr val="C4402A"/>
            </a:solidFill>
            <a:prstDash val="solid"/>
            <a:tailEnd type="triangle"/>
          </a:ln>
        </p:spPr>
      </p:sp>
      <p:sp>
        <p:nvSpPr>
          <p:cNvPr id="19" name="Text 17"/>
          <p:cNvSpPr txBox="1"/>
          <p:nvPr/>
        </p:nvSpPr>
        <p:spPr>
          <a:xfrm>
            <a:off x="7360920" y="3520440"/>
            <a:ext cx="1371600" cy="274320"/>
          </a:xfrm>
          <a:prstGeom prst="rect">
            <a:avLst/>
          </a:prstGeom>
          <a:noFill/>
          <a:ln/>
        </p:spPr>
        <p:txBody>
          <a:bodyPr wrap="square" lIns="0" tIns="0" rIns="0" bIns="0" rtlCol="0" anchor="ctr"/>
          <a:lstStyle/>
          <a:p>
            <a:pPr algn="ctr" indent="0" marL="0">
              <a:buNone/>
            </a:pPr>
            <a:r>
              <a:rPr lang="en-US" sz="1000" dirty="0">
                <a:solidFill>
                  <a:srgbClr val="6B7688"/>
                </a:solidFill>
                <a:latin typeface="Courier New" pitchFamily="34" charset="0"/>
                <a:ea typeface="Courier New" pitchFamily="34" charset="-122"/>
                <a:cs typeface="Courier New" pitchFamily="34" charset="-120"/>
              </a:rPr>
              <a:t>OpenAI互換API</a:t>
            </a:r>
            <a:endParaRPr lang="en-US" sz="1000" dirty="0"/>
          </a:p>
        </p:txBody>
      </p:sp>
      <p:sp>
        <p:nvSpPr>
          <p:cNvPr id="20" name="Shape 18"/>
          <p:cNvSpPr/>
          <p:nvPr/>
        </p:nvSpPr>
        <p:spPr>
          <a:xfrm>
            <a:off x="731520" y="4846320"/>
            <a:ext cx="10789920" cy="1280160"/>
          </a:xfrm>
          <a:prstGeom prst="roundRect">
            <a:avLst>
              <a:gd name="adj" fmla="val 3571"/>
            </a:avLst>
          </a:prstGeom>
          <a:solidFill>
            <a:srgbClr val="FFFFFF"/>
          </a:solidFill>
          <a:ln w="12700">
            <a:solidFill>
              <a:srgbClr val="DFE3EA"/>
            </a:solidFill>
            <a:prstDash val="solid"/>
          </a:ln>
        </p:spPr>
      </p:sp>
      <p:sp>
        <p:nvSpPr>
          <p:cNvPr id="21" name="Text 19"/>
          <p:cNvSpPr txBox="1"/>
          <p:nvPr/>
        </p:nvSpPr>
        <p:spPr>
          <a:xfrm>
            <a:off x="1097280" y="5029200"/>
            <a:ext cx="4572000" cy="320040"/>
          </a:xfrm>
          <a:prstGeom prst="rect">
            <a:avLst/>
          </a:prstGeom>
          <a:noFill/>
          <a:ln/>
        </p:spPr>
        <p:txBody>
          <a:bodyPr wrap="square" lIns="0" tIns="0" rIns="0" bIns="0" rtlCol="0" anchor="ctr"/>
          <a:lstStyle/>
          <a:p>
            <a:pPr indent="0" marL="0">
              <a:buNone/>
            </a:pPr>
            <a:r>
              <a:rPr lang="en-US" sz="1600" b="1" dirty="0">
                <a:solidFill>
                  <a:srgbClr val="1B2230"/>
                </a:solidFill>
                <a:latin typeface="Calibri" pitchFamily="34" charset="0"/>
                <a:ea typeface="Calibri" pitchFamily="34" charset="-122"/>
                <a:cs typeface="Calibri" pitchFamily="34" charset="-120"/>
              </a:rPr>
              <a:t>データベースを作らないという判断</a:t>
            </a:r>
            <a:endParaRPr lang="en-US" sz="1600" dirty="0"/>
          </a:p>
        </p:txBody>
      </p:sp>
      <p:sp>
        <p:nvSpPr>
          <p:cNvPr id="22" name="Text 20"/>
          <p:cNvSpPr txBox="1"/>
          <p:nvPr/>
        </p:nvSpPr>
        <p:spPr>
          <a:xfrm>
            <a:off x="1097280" y="5376672"/>
            <a:ext cx="9875520" cy="640080"/>
          </a:xfrm>
          <a:prstGeom prst="rect">
            <a:avLst/>
          </a:prstGeom>
          <a:noFill/>
          <a:ln/>
        </p:spPr>
        <p:txBody>
          <a:bodyPr wrap="square" lIns="0" tIns="0" rIns="0" bIns="0" rtlCol="0" anchor="ctr"/>
          <a:lstStyle/>
          <a:p>
            <a:pPr indent="0" marL="0">
              <a:lnSpc>
                <a:spcPts val="1900"/>
              </a:lnSpc>
              <a:buNone/>
            </a:pPr>
            <a:r>
              <a:rPr lang="en-US" sz="1300" dirty="0">
                <a:solidFill>
                  <a:srgbClr val="1B2230"/>
                </a:solidFill>
                <a:latin typeface="Calibri" pitchFamily="34" charset="0"/>
                <a:ea typeface="Calibri" pitchFamily="34" charset="-122"/>
                <a:cs typeface="Calibri" pitchFamily="34" charset="-120"/>
              </a:rPr>
              <a:t>会話はその場かぎりで、あとから見返す必要がない。ブラウザが覚えれば足りる。</a:t>
            </a:r>
            <a:endParaRPr lang="en-US" sz="1300" dirty="0"/>
          </a:p>
          <a:p>
            <a:pPr indent="0" marL="0">
              <a:lnSpc>
                <a:spcPts val="1900"/>
              </a:lnSpc>
              <a:buNone/>
            </a:pPr>
            <a:r>
              <a:rPr lang="en-US" sz="1300" dirty="0">
                <a:solidFill>
                  <a:srgbClr val="1B2230"/>
                </a:solidFill>
                <a:latin typeface="Calibri" pitchFamily="34" charset="0"/>
                <a:ea typeface="Calibri" pitchFamily="34" charset="-122"/>
                <a:cs typeface="Calibri" pitchFamily="34" charset="-120"/>
              </a:rPr>
              <a:t>作るものを減らし、必須機能の作り込みに時間を使うための設計判断。</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230"/>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AIに数値を出させる工夫</a:t>
            </a:r>
            <a:endParaRPr lang="en-US" sz="3600" dirty="0"/>
          </a:p>
        </p:txBody>
      </p:sp>
      <p:sp>
        <p:nvSpPr>
          <p:cNvPr id="3" name="Text 1"/>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500" dirty="0">
                <a:solidFill>
                  <a:srgbClr val="6B7688"/>
                </a:solidFill>
                <a:latin typeface="Calibri" pitchFamily="34" charset="0"/>
                <a:ea typeface="Calibri" pitchFamily="34" charset="-122"/>
                <a:cs typeface="Calibri" pitchFamily="34" charset="-120"/>
              </a:rPr>
              <a:t>「必ず数値を出して」と頼むだけでは、守ってもらえなかった</a:t>
            </a:r>
            <a:endParaRPr lang="en-US" sz="1500" dirty="0"/>
          </a:p>
        </p:txBody>
      </p:sp>
      <p:sp>
        <p:nvSpPr>
          <p:cNvPr id="4" name="Shape 2"/>
          <p:cNvSpPr/>
          <p:nvPr/>
        </p:nvSpPr>
        <p:spPr>
          <a:xfrm>
            <a:off x="640080" y="2103120"/>
            <a:ext cx="5212080" cy="3108960"/>
          </a:xfrm>
          <a:prstGeom prst="roundRect">
            <a:avLst>
              <a:gd name="adj" fmla="val 1765"/>
            </a:avLst>
          </a:prstGeom>
          <a:solidFill>
            <a:srgbClr val="2A3446"/>
          </a:solidFill>
          <a:ln/>
        </p:spPr>
      </p:sp>
      <p:sp>
        <p:nvSpPr>
          <p:cNvPr id="5" name="Text 3"/>
          <p:cNvSpPr txBox="1"/>
          <p:nvPr/>
        </p:nvSpPr>
        <p:spPr>
          <a:xfrm>
            <a:off x="960120" y="2331720"/>
            <a:ext cx="4572000" cy="320040"/>
          </a:xfrm>
          <a:prstGeom prst="rect">
            <a:avLst/>
          </a:prstGeom>
          <a:noFill/>
          <a:ln/>
        </p:spPr>
        <p:txBody>
          <a:bodyPr wrap="square" lIns="0" tIns="0" rIns="0" bIns="0" rtlCol="0" anchor="ctr"/>
          <a:lstStyle/>
          <a:p>
            <a:pPr indent="0" marL="0">
              <a:buNone/>
            </a:pPr>
            <a:r>
              <a:rPr lang="en-US" sz="1500" b="1" dirty="0">
                <a:solidFill>
                  <a:srgbClr val="C4402A"/>
                </a:solidFill>
                <a:latin typeface="Calibri" pitchFamily="34" charset="0"/>
                <a:ea typeface="Calibri" pitchFamily="34" charset="-122"/>
                <a:cs typeface="Calibri" pitchFamily="34" charset="-120"/>
              </a:rPr>
              <a:t>うまくいかなかった指示</a:t>
            </a:r>
            <a:endParaRPr lang="en-US" sz="1500" dirty="0"/>
          </a:p>
        </p:txBody>
      </p:sp>
      <p:sp>
        <p:nvSpPr>
          <p:cNvPr id="6" name="Text 4"/>
          <p:cNvSpPr txBox="1"/>
          <p:nvPr/>
        </p:nvSpPr>
        <p:spPr>
          <a:xfrm>
            <a:off x="960120" y="2788920"/>
            <a:ext cx="45720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「怒りの数値を必ず出力してください」</a:t>
            </a:r>
            <a:endParaRPr lang="en-US" sz="1500" dirty="0"/>
          </a:p>
        </p:txBody>
      </p:sp>
      <p:sp>
        <p:nvSpPr>
          <p:cNvPr id="7" name="Text 5"/>
          <p:cNvSpPr txBox="1"/>
          <p:nvPr/>
        </p:nvSpPr>
        <p:spPr>
          <a:xfrm>
            <a:off x="960120" y="3429000"/>
            <a:ext cx="4572000" cy="274320"/>
          </a:xfrm>
          <a:prstGeom prst="rect">
            <a:avLst/>
          </a:prstGeom>
          <a:noFill/>
          <a:ln/>
        </p:spPr>
        <p:txBody>
          <a:bodyPr wrap="square" lIns="0" tIns="0" rIns="0" bIns="0" rtlCol="0" anchor="ctr"/>
          <a:lstStyle/>
          <a:p>
            <a:pPr indent="0" marL="0">
              <a:buNone/>
            </a:pPr>
            <a:r>
              <a:rPr lang="en-US" sz="1100" dirty="0">
                <a:solidFill>
                  <a:srgbClr val="6B7688"/>
                </a:solidFill>
                <a:latin typeface="Courier New" pitchFamily="34" charset="0"/>
                <a:ea typeface="Courier New" pitchFamily="34" charset="-122"/>
                <a:cs typeface="Courier New" pitchFamily="34" charset="-120"/>
              </a:rPr>
              <a:t>AIの返答</a:t>
            </a:r>
            <a:endParaRPr lang="en-US" sz="1100" dirty="0"/>
          </a:p>
        </p:txBody>
      </p:sp>
      <p:sp>
        <p:nvSpPr>
          <p:cNvPr id="8" name="Text 6"/>
          <p:cNvSpPr txBox="1"/>
          <p:nvPr/>
        </p:nvSpPr>
        <p:spPr>
          <a:xfrm>
            <a:off x="960120" y="3749040"/>
            <a:ext cx="4572000" cy="731520"/>
          </a:xfrm>
          <a:prstGeom prst="rect">
            <a:avLst/>
          </a:prstGeom>
          <a:noFill/>
          <a:ln/>
        </p:spPr>
        <p:txBody>
          <a:bodyPr wrap="square" lIns="0" tIns="0" rIns="0" bIns="0" rtlCol="0" anchor="ctr"/>
          <a:lstStyle/>
          <a:p>
            <a:pPr indent="0" marL="0">
              <a:lnSpc>
                <a:spcPts val="2200"/>
              </a:lnSpc>
              <a:buNone/>
            </a:pPr>
            <a:r>
              <a:rPr lang="en-US" sz="1400" dirty="0">
                <a:solidFill>
                  <a:srgbClr val="6B7688"/>
                </a:solidFill>
                <a:latin typeface="Calibri" pitchFamily="34" charset="0"/>
                <a:ea typeface="Calibri" pitchFamily="34" charset="-122"/>
                <a:cs typeface="Calibri" pitchFamily="34" charset="-120"/>
              </a:rPr>
              <a:t>それは大変申し訳ございません。</a:t>
            </a:r>
            <a:endParaRPr lang="en-US" sz="1400" dirty="0"/>
          </a:p>
          <a:p>
            <a:pPr indent="0" marL="0">
              <a:lnSpc>
                <a:spcPts val="2200"/>
              </a:lnSpc>
              <a:buNone/>
            </a:pPr>
            <a:r>
              <a:rPr lang="en-US" sz="1400" dirty="0">
                <a:solidFill>
                  <a:srgbClr val="6B7688"/>
                </a:solidFill>
                <a:latin typeface="Calibri" pitchFamily="34" charset="0"/>
                <a:ea typeface="Calibri" pitchFamily="34" charset="-122"/>
                <a:cs typeface="Calibri" pitchFamily="34" charset="-120"/>
              </a:rPr>
              <a:t>すぐに確認いたします。</a:t>
            </a:r>
            <a:endParaRPr lang="en-US" sz="1400" dirty="0"/>
          </a:p>
        </p:txBody>
      </p:sp>
      <p:sp>
        <p:nvSpPr>
          <p:cNvPr id="9" name="Text 7"/>
          <p:cNvSpPr txBox="1"/>
          <p:nvPr/>
        </p:nvSpPr>
        <p:spPr>
          <a:xfrm>
            <a:off x="960120" y="4617720"/>
            <a:ext cx="4572000" cy="365760"/>
          </a:xfrm>
          <a:prstGeom prst="rect">
            <a:avLst/>
          </a:prstGeom>
          <a:noFill/>
          <a:ln/>
        </p:spPr>
        <p:txBody>
          <a:bodyPr wrap="square" lIns="0" tIns="0" rIns="0" bIns="0" rtlCol="0" anchor="ctr"/>
          <a:lstStyle/>
          <a:p>
            <a:pPr indent="0" marL="0">
              <a:buNone/>
            </a:pPr>
            <a:r>
              <a:rPr lang="en-US" sz="1500" b="1" dirty="0">
                <a:solidFill>
                  <a:srgbClr val="C4402A"/>
                </a:solidFill>
                <a:latin typeface="Calibri" pitchFamily="34" charset="0"/>
                <a:ea typeface="Calibri" pitchFamily="34" charset="-122"/>
                <a:cs typeface="Calibri" pitchFamily="34" charset="-120"/>
              </a:rPr>
              <a:t>数値が出てこない</a:t>
            </a:r>
            <a:endParaRPr lang="en-US" sz="1500" dirty="0"/>
          </a:p>
        </p:txBody>
      </p:sp>
      <p:sp>
        <p:nvSpPr>
          <p:cNvPr id="10" name="Shape 8"/>
          <p:cNvSpPr/>
          <p:nvPr/>
        </p:nvSpPr>
        <p:spPr>
          <a:xfrm>
            <a:off x="6309360" y="2103120"/>
            <a:ext cx="5212080" cy="3108960"/>
          </a:xfrm>
          <a:prstGeom prst="roundRect">
            <a:avLst>
              <a:gd name="adj" fmla="val 1765"/>
            </a:avLst>
          </a:prstGeom>
          <a:solidFill>
            <a:srgbClr val="2A3446"/>
          </a:solidFill>
          <a:ln/>
        </p:spPr>
      </p:sp>
      <p:sp>
        <p:nvSpPr>
          <p:cNvPr id="11" name="Text 9"/>
          <p:cNvSpPr txBox="1"/>
          <p:nvPr/>
        </p:nvSpPr>
        <p:spPr>
          <a:xfrm>
            <a:off x="6629400" y="2331720"/>
            <a:ext cx="4572000" cy="320040"/>
          </a:xfrm>
          <a:prstGeom prst="rect">
            <a:avLst/>
          </a:prstGeom>
          <a:noFill/>
          <a:ln/>
        </p:spPr>
        <p:txBody>
          <a:bodyPr wrap="square" lIns="0" tIns="0" rIns="0" bIns="0" rtlCol="0" anchor="ctr"/>
          <a:lstStyle/>
          <a:p>
            <a:pPr indent="0" marL="0">
              <a:buNone/>
            </a:pPr>
            <a:r>
              <a:rPr lang="en-US" sz="1500" b="1" dirty="0">
                <a:solidFill>
                  <a:srgbClr val="1F7A56"/>
                </a:solidFill>
                <a:latin typeface="Calibri" pitchFamily="34" charset="0"/>
                <a:ea typeface="Calibri" pitchFamily="34" charset="-122"/>
                <a:cs typeface="Calibri" pitchFamily="34" charset="-120"/>
              </a:rPr>
              <a:t>うまくいった指示</a:t>
            </a:r>
            <a:endParaRPr lang="en-US" sz="1500" dirty="0"/>
          </a:p>
        </p:txBody>
      </p:sp>
      <p:sp>
        <p:nvSpPr>
          <p:cNvPr id="12" name="Text 10"/>
          <p:cNvSpPr txBox="1"/>
          <p:nvPr/>
        </p:nvSpPr>
        <p:spPr>
          <a:xfrm>
            <a:off x="6629400" y="2788920"/>
            <a:ext cx="4572000" cy="914400"/>
          </a:xfrm>
          <a:prstGeom prst="rect">
            <a:avLst/>
          </a:prstGeom>
          <a:noFill/>
          <a:ln/>
        </p:spPr>
        <p:txBody>
          <a:bodyPr wrap="square" lIns="0" tIns="0" rIns="0" bIns="0" rtlCol="0" anchor="ctr"/>
          <a:lstStyle/>
          <a:p>
            <a:pPr indent="0" marL="0">
              <a:lnSpc>
                <a:spcPts val="2100"/>
              </a:lnSpc>
              <a:buNone/>
            </a:pPr>
            <a:r>
              <a:rPr lang="en-US" sz="1400" dirty="0">
                <a:solidFill>
                  <a:srgbClr val="FFFFFF"/>
                </a:solidFill>
                <a:latin typeface="Courier New" pitchFamily="34" charset="0"/>
                <a:ea typeface="Courier New" pitchFamily="34" charset="-122"/>
                <a:cs typeface="Courier New" pitchFamily="34" charset="-120"/>
              </a:rPr>
              <a:t>次の2行の形式だけで出力してください</a:t>
            </a:r>
            <a:endParaRPr lang="en-US" sz="1400" dirty="0"/>
          </a:p>
          <a:p>
            <a:pPr indent="0" marL="0">
              <a:lnSpc>
                <a:spcPts val="2100"/>
              </a:lnSpc>
              <a:buNone/>
            </a:pPr>
            <a:r>
              <a:rPr lang="en-US" sz="1400" dirty="0">
                <a:solidFill>
                  <a:srgbClr val="FFFFFF"/>
                </a:solidFill>
                <a:latin typeface="Courier New" pitchFamily="34" charset="0"/>
                <a:ea typeface="Courier New" pitchFamily="34" charset="-122"/>
                <a:cs typeface="Courier New" pitchFamily="34" charset="-120"/>
              </a:rPr>
              <a:t>【怒り】数値</a:t>
            </a:r>
            <a:endParaRPr lang="en-US" sz="1400" dirty="0"/>
          </a:p>
          <a:p>
            <a:pPr indent="0" marL="0">
              <a:lnSpc>
                <a:spcPts val="2100"/>
              </a:lnSpc>
              <a:buNone/>
            </a:pPr>
            <a:r>
              <a:rPr lang="en-US" sz="1400" dirty="0">
                <a:solidFill>
                  <a:srgbClr val="FFFFFF"/>
                </a:solidFill>
                <a:latin typeface="Courier New" pitchFamily="34" charset="0"/>
                <a:ea typeface="Courier New" pitchFamily="34" charset="-122"/>
                <a:cs typeface="Courier New" pitchFamily="34" charset="-120"/>
              </a:rPr>
              <a:t>【セリフ】発言</a:t>
            </a:r>
            <a:endParaRPr lang="en-US" sz="1400" dirty="0"/>
          </a:p>
        </p:txBody>
      </p:sp>
      <p:sp>
        <p:nvSpPr>
          <p:cNvPr id="13" name="Text 11"/>
          <p:cNvSpPr txBox="1"/>
          <p:nvPr/>
        </p:nvSpPr>
        <p:spPr>
          <a:xfrm>
            <a:off x="6629400" y="3794760"/>
            <a:ext cx="4572000" cy="274320"/>
          </a:xfrm>
          <a:prstGeom prst="rect">
            <a:avLst/>
          </a:prstGeom>
          <a:noFill/>
          <a:ln/>
        </p:spPr>
        <p:txBody>
          <a:bodyPr wrap="square" lIns="0" tIns="0" rIns="0" bIns="0" rtlCol="0" anchor="ctr"/>
          <a:lstStyle/>
          <a:p>
            <a:pPr indent="0" marL="0">
              <a:buNone/>
            </a:pPr>
            <a:r>
              <a:rPr lang="en-US" sz="1100" dirty="0">
                <a:solidFill>
                  <a:srgbClr val="6B7688"/>
                </a:solidFill>
                <a:latin typeface="Courier New" pitchFamily="34" charset="0"/>
                <a:ea typeface="Courier New" pitchFamily="34" charset="-122"/>
                <a:cs typeface="Courier New" pitchFamily="34" charset="-120"/>
              </a:rPr>
              <a:t>AIの返答</a:t>
            </a:r>
            <a:endParaRPr lang="en-US" sz="1100" dirty="0"/>
          </a:p>
        </p:txBody>
      </p:sp>
      <p:sp>
        <p:nvSpPr>
          <p:cNvPr id="14" name="Text 12"/>
          <p:cNvSpPr txBox="1"/>
          <p:nvPr/>
        </p:nvSpPr>
        <p:spPr>
          <a:xfrm>
            <a:off x="6629400" y="4114800"/>
            <a:ext cx="4572000" cy="640080"/>
          </a:xfrm>
          <a:prstGeom prst="rect">
            <a:avLst/>
          </a:prstGeom>
          <a:noFill/>
          <a:ln/>
        </p:spPr>
        <p:txBody>
          <a:bodyPr wrap="square" lIns="0" tIns="0" rIns="0" bIns="0" rtlCol="0" anchor="ctr"/>
          <a:lstStyle/>
          <a:p>
            <a:pPr indent="0" marL="0">
              <a:lnSpc>
                <a:spcPts val="2100"/>
              </a:lnSpc>
              <a:buNone/>
            </a:pPr>
            <a:r>
              <a:rPr lang="en-US" sz="1400" dirty="0">
                <a:solidFill>
                  <a:srgbClr val="FFFFFF"/>
                </a:solidFill>
                <a:latin typeface="Courier New" pitchFamily="34" charset="0"/>
                <a:ea typeface="Courier New" pitchFamily="34" charset="-122"/>
                <a:cs typeface="Courier New" pitchFamily="34" charset="-120"/>
              </a:rPr>
              <a:t>【怒り】72</a:t>
            </a:r>
            <a:endParaRPr lang="en-US" sz="1400" dirty="0"/>
          </a:p>
          <a:p>
            <a:pPr indent="0" marL="0">
              <a:lnSpc>
                <a:spcPts val="2100"/>
              </a:lnSpc>
              <a:buNone/>
            </a:pPr>
            <a:r>
              <a:rPr lang="en-US" sz="1400" dirty="0">
                <a:solidFill>
                  <a:srgbClr val="FFFFFF"/>
                </a:solidFill>
                <a:latin typeface="Courier New" pitchFamily="34" charset="0"/>
                <a:ea typeface="Courier New" pitchFamily="34" charset="-122"/>
                <a:cs typeface="Courier New" pitchFamily="34" charset="-120"/>
              </a:rPr>
              <a:t>【セリフ】返品対応してくれる？</a:t>
            </a:r>
            <a:endParaRPr lang="en-US" sz="1400" dirty="0"/>
          </a:p>
        </p:txBody>
      </p:sp>
      <p:sp>
        <p:nvSpPr>
          <p:cNvPr id="15" name="Text 13"/>
          <p:cNvSpPr txBox="1"/>
          <p:nvPr/>
        </p:nvSpPr>
        <p:spPr>
          <a:xfrm>
            <a:off x="6629400" y="4800600"/>
            <a:ext cx="4572000" cy="365760"/>
          </a:xfrm>
          <a:prstGeom prst="rect">
            <a:avLst/>
          </a:prstGeom>
          <a:noFill/>
          <a:ln/>
        </p:spPr>
        <p:txBody>
          <a:bodyPr wrap="square" lIns="0" tIns="0" rIns="0" bIns="0" rtlCol="0" anchor="ctr"/>
          <a:lstStyle/>
          <a:p>
            <a:pPr indent="0" marL="0">
              <a:buNone/>
            </a:pPr>
            <a:r>
              <a:rPr lang="en-US" sz="1500" b="1" dirty="0">
                <a:solidFill>
                  <a:srgbClr val="1F7A56"/>
                </a:solidFill>
                <a:latin typeface="Calibri" pitchFamily="34" charset="0"/>
                <a:ea typeface="Calibri" pitchFamily="34" charset="-122"/>
                <a:cs typeface="Calibri" pitchFamily="34" charset="-120"/>
              </a:rPr>
              <a:t>必ず守ってくれる</a:t>
            </a:r>
            <a:endParaRPr lang="en-US" sz="1500" dirty="0"/>
          </a:p>
        </p:txBody>
      </p:sp>
      <p:sp>
        <p:nvSpPr>
          <p:cNvPr id="16" name="Text 14"/>
          <p:cNvSpPr txBox="1"/>
          <p:nvPr/>
        </p:nvSpPr>
        <p:spPr>
          <a:xfrm>
            <a:off x="640080" y="5623560"/>
            <a:ext cx="10881360" cy="457200"/>
          </a:xfrm>
          <a:prstGeom prst="rect">
            <a:avLst/>
          </a:prstGeom>
          <a:noFill/>
          <a:ln/>
        </p:spPr>
        <p:txBody>
          <a:bodyPr wrap="square" lIns="0" tIns="0" rIns="0" bIns="0" rtlCol="0" anchor="ctr"/>
          <a:lstStyle/>
          <a:p>
            <a:pPr indent="0" marL="0">
              <a:buNone/>
            </a:pPr>
            <a:r>
              <a:rPr lang="en-US" sz="1600" b="1" dirty="0">
                <a:solidFill>
                  <a:srgbClr val="B57B12"/>
                </a:solidFill>
                <a:latin typeface="Calibri" pitchFamily="34" charset="0"/>
                <a:ea typeface="Calibri" pitchFamily="34" charset="-122"/>
                <a:cs typeface="Calibri" pitchFamily="34" charset="-120"/>
              </a:rPr>
              <a:t>抽象的な命令より、埋めるべき「型」を渡すほうが確実に従う</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D"/>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1B2230"/>
                </a:solidFill>
                <a:latin typeface="Cambria" pitchFamily="34" charset="0"/>
                <a:ea typeface="Cambria" pitchFamily="34" charset="-122"/>
                <a:cs typeface="Cambria" pitchFamily="34" charset="-120"/>
              </a:rPr>
              <a:t>AIモデルは実測で選んだ</a:t>
            </a:r>
            <a:endParaRPr lang="en-US" sz="3600" dirty="0"/>
          </a:p>
        </p:txBody>
      </p:sp>
      <p:sp>
        <p:nvSpPr>
          <p:cNvPr id="3" name="Text 1"/>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500" dirty="0">
                <a:solidFill>
                  <a:srgbClr val="6B7688"/>
                </a:solidFill>
                <a:latin typeface="Calibri" pitchFamily="34" charset="0"/>
                <a:ea typeface="Calibri" pitchFamily="34" charset="-122"/>
                <a:cs typeface="Calibri" pitchFamily="34" charset="-120"/>
              </a:rPr>
              <a:t>4種類を同じ質問で比べた。大きさだけでは決まらなかった</a:t>
            </a:r>
            <a:endParaRPr lang="en-US" sz="1500" dirty="0"/>
          </a:p>
        </p:txBody>
      </p:sp>
      <p:sp>
        <p:nvSpPr>
          <p:cNvPr id="4" name="Text 2"/>
          <p:cNvSpPr txBox="1"/>
          <p:nvPr/>
        </p:nvSpPr>
        <p:spPr>
          <a:xfrm>
            <a:off x="914400" y="2148840"/>
            <a:ext cx="10058400" cy="274320"/>
          </a:xfrm>
          <a:prstGeom prst="rect">
            <a:avLst/>
          </a:prstGeom>
          <a:noFill/>
          <a:ln/>
        </p:spPr>
        <p:txBody>
          <a:bodyPr wrap="square" lIns="0" tIns="0" rIns="0" bIns="0" rtlCol="0" anchor="ctr"/>
          <a:lstStyle/>
          <a:p>
            <a:pPr indent="0" marL="0">
              <a:buNone/>
            </a:pPr>
            <a:r>
              <a:rPr lang="en-US" sz="1100" dirty="0">
                <a:solidFill>
                  <a:srgbClr val="6B7688"/>
                </a:solidFill>
                <a:latin typeface="Courier New" pitchFamily="34" charset="0"/>
                <a:ea typeface="Courier New" pitchFamily="34" charset="-122"/>
                <a:cs typeface="Courier New" pitchFamily="34" charset="-120"/>
              </a:rPr>
              <a:t>モデル        日本語の品質        応答        判定</a:t>
            </a:r>
            <a:endParaRPr lang="en-US" sz="1100" dirty="0"/>
          </a:p>
        </p:txBody>
      </p:sp>
      <p:sp>
        <p:nvSpPr>
          <p:cNvPr id="5" name="Shape 3"/>
          <p:cNvSpPr/>
          <p:nvPr/>
        </p:nvSpPr>
        <p:spPr>
          <a:xfrm>
            <a:off x="731520" y="2560320"/>
            <a:ext cx="10789920" cy="685800"/>
          </a:xfrm>
          <a:prstGeom prst="roundRect">
            <a:avLst>
              <a:gd name="adj" fmla="val 5333"/>
            </a:avLst>
          </a:prstGeom>
          <a:solidFill>
            <a:srgbClr val="E4E9F0"/>
          </a:solidFill>
          <a:ln/>
        </p:spPr>
      </p:sp>
      <p:sp>
        <p:nvSpPr>
          <p:cNvPr id="6" name="Text 4"/>
          <p:cNvSpPr txBox="1"/>
          <p:nvPr/>
        </p:nvSpPr>
        <p:spPr>
          <a:xfrm>
            <a:off x="1005840" y="2715768"/>
            <a:ext cx="3108960" cy="365760"/>
          </a:xfrm>
          <a:prstGeom prst="rect">
            <a:avLst/>
          </a:prstGeom>
          <a:noFill/>
          <a:ln/>
        </p:spPr>
        <p:txBody>
          <a:bodyPr wrap="square" lIns="0" tIns="0" rIns="0" bIns="0" rtlCol="0" anchor="ctr"/>
          <a:lstStyle/>
          <a:p>
            <a:pPr indent="0" marL="0">
              <a:buNone/>
            </a:pPr>
            <a:r>
              <a:rPr lang="en-US" sz="1500" dirty="0">
                <a:solidFill>
                  <a:srgbClr val="1B2230"/>
                </a:solidFill>
                <a:latin typeface="Courier New" pitchFamily="34" charset="0"/>
                <a:ea typeface="Courier New" pitchFamily="34" charset="-122"/>
                <a:cs typeface="Courier New" pitchFamily="34" charset="-120"/>
              </a:rPr>
              <a:t>qwen2.5-coder:0.5b</a:t>
            </a:r>
            <a:endParaRPr lang="en-US" sz="1500" dirty="0"/>
          </a:p>
        </p:txBody>
      </p:sp>
      <p:sp>
        <p:nvSpPr>
          <p:cNvPr id="7" name="Text 5"/>
          <p:cNvSpPr txBox="1"/>
          <p:nvPr/>
        </p:nvSpPr>
        <p:spPr>
          <a:xfrm>
            <a:off x="4206240" y="2715768"/>
            <a:ext cx="3291840" cy="365760"/>
          </a:xfrm>
          <a:prstGeom prst="rect">
            <a:avLst/>
          </a:prstGeom>
          <a:noFill/>
          <a:ln/>
        </p:spPr>
        <p:txBody>
          <a:bodyPr wrap="square" lIns="0" tIns="0" rIns="0" bIns="0" rtlCol="0" anchor="ctr"/>
          <a:lstStyle/>
          <a:p>
            <a:pPr indent="0" marL="0">
              <a:buNone/>
            </a:pPr>
            <a:r>
              <a:rPr lang="en-US" sz="1400" dirty="0">
                <a:solidFill>
                  <a:srgbClr val="1B2230"/>
                </a:solidFill>
                <a:latin typeface="Calibri" pitchFamily="34" charset="0"/>
                <a:ea typeface="Calibri" pitchFamily="34" charset="-122"/>
                <a:cs typeface="Calibri" pitchFamily="34" charset="-120"/>
              </a:rPr>
              <a:t>出鱈目を回答</a:t>
            </a:r>
            <a:endParaRPr lang="en-US" sz="1400" dirty="0"/>
          </a:p>
        </p:txBody>
      </p:sp>
      <p:sp>
        <p:nvSpPr>
          <p:cNvPr id="8" name="Text 6"/>
          <p:cNvSpPr txBox="1"/>
          <p:nvPr/>
        </p:nvSpPr>
        <p:spPr>
          <a:xfrm>
            <a:off x="7589520" y="2715768"/>
            <a:ext cx="1463040" cy="365760"/>
          </a:xfrm>
          <a:prstGeom prst="rect">
            <a:avLst/>
          </a:prstGeom>
          <a:noFill/>
          <a:ln/>
        </p:spPr>
        <p:txBody>
          <a:bodyPr wrap="square" lIns="0" tIns="0" rIns="0" bIns="0" rtlCol="0" anchor="ctr"/>
          <a:lstStyle/>
          <a:p>
            <a:pPr indent="0" marL="0">
              <a:buNone/>
            </a:pPr>
            <a:r>
              <a:rPr lang="en-US" sz="1400" dirty="0">
                <a:solidFill>
                  <a:srgbClr val="1B2230"/>
                </a:solidFill>
                <a:latin typeface="Courier New" pitchFamily="34" charset="0"/>
                <a:ea typeface="Courier New" pitchFamily="34" charset="-122"/>
                <a:cs typeface="Courier New" pitchFamily="34" charset="-120"/>
              </a:rPr>
              <a:t>最速</a:t>
            </a:r>
            <a:endParaRPr lang="en-US" sz="1400" dirty="0"/>
          </a:p>
        </p:txBody>
      </p:sp>
      <p:sp>
        <p:nvSpPr>
          <p:cNvPr id="9" name="Shape 7"/>
          <p:cNvSpPr/>
          <p:nvPr/>
        </p:nvSpPr>
        <p:spPr>
          <a:xfrm>
            <a:off x="9692640" y="2706624"/>
            <a:ext cx="1371600" cy="384048"/>
          </a:xfrm>
          <a:prstGeom prst="roundRect">
            <a:avLst>
              <a:gd name="adj" fmla="val 19048"/>
            </a:avLst>
          </a:prstGeom>
          <a:solidFill>
            <a:srgbClr val="C4402A"/>
          </a:solidFill>
          <a:ln/>
        </p:spPr>
      </p:sp>
      <p:sp>
        <p:nvSpPr>
          <p:cNvPr id="10" name="Text 8"/>
          <p:cNvSpPr txBox="1"/>
          <p:nvPr/>
        </p:nvSpPr>
        <p:spPr>
          <a:xfrm>
            <a:off x="9692640" y="2706624"/>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不採用</a:t>
            </a:r>
            <a:endParaRPr lang="en-US" sz="1200" dirty="0"/>
          </a:p>
        </p:txBody>
      </p:sp>
      <p:sp>
        <p:nvSpPr>
          <p:cNvPr id="11" name="Shape 9"/>
          <p:cNvSpPr/>
          <p:nvPr/>
        </p:nvSpPr>
        <p:spPr>
          <a:xfrm>
            <a:off x="731520" y="3401568"/>
            <a:ext cx="10789920" cy="685800"/>
          </a:xfrm>
          <a:prstGeom prst="roundRect">
            <a:avLst>
              <a:gd name="adj" fmla="val 5333"/>
            </a:avLst>
          </a:prstGeom>
          <a:solidFill>
            <a:srgbClr val="E4E9F0"/>
          </a:solidFill>
          <a:ln/>
        </p:spPr>
      </p:sp>
      <p:sp>
        <p:nvSpPr>
          <p:cNvPr id="12" name="Text 10"/>
          <p:cNvSpPr txBox="1"/>
          <p:nvPr/>
        </p:nvSpPr>
        <p:spPr>
          <a:xfrm>
            <a:off x="1005840" y="3557016"/>
            <a:ext cx="3108960" cy="365760"/>
          </a:xfrm>
          <a:prstGeom prst="rect">
            <a:avLst/>
          </a:prstGeom>
          <a:noFill/>
          <a:ln/>
        </p:spPr>
        <p:txBody>
          <a:bodyPr wrap="square" lIns="0" tIns="0" rIns="0" bIns="0" rtlCol="0" anchor="ctr"/>
          <a:lstStyle/>
          <a:p>
            <a:pPr indent="0" marL="0">
              <a:buNone/>
            </a:pPr>
            <a:r>
              <a:rPr lang="en-US" sz="1500" dirty="0">
                <a:solidFill>
                  <a:srgbClr val="1B2230"/>
                </a:solidFill>
                <a:latin typeface="Courier New" pitchFamily="34" charset="0"/>
                <a:ea typeface="Courier New" pitchFamily="34" charset="-122"/>
                <a:cs typeface="Courier New" pitchFamily="34" charset="-120"/>
              </a:rPr>
              <a:t>qwen2.5:1.5b</a:t>
            </a:r>
            <a:endParaRPr lang="en-US" sz="1500" dirty="0"/>
          </a:p>
        </p:txBody>
      </p:sp>
      <p:sp>
        <p:nvSpPr>
          <p:cNvPr id="13" name="Text 11"/>
          <p:cNvSpPr txBox="1"/>
          <p:nvPr/>
        </p:nvSpPr>
        <p:spPr>
          <a:xfrm>
            <a:off x="4206240" y="3557016"/>
            <a:ext cx="3291840" cy="365760"/>
          </a:xfrm>
          <a:prstGeom prst="rect">
            <a:avLst/>
          </a:prstGeom>
          <a:noFill/>
          <a:ln/>
        </p:spPr>
        <p:txBody>
          <a:bodyPr wrap="square" lIns="0" tIns="0" rIns="0" bIns="0" rtlCol="0" anchor="ctr"/>
          <a:lstStyle/>
          <a:p>
            <a:pPr indent="0" marL="0">
              <a:buNone/>
            </a:pPr>
            <a:r>
              <a:rPr lang="en-US" sz="1400" dirty="0">
                <a:solidFill>
                  <a:srgbClr val="1B2230"/>
                </a:solidFill>
                <a:latin typeface="Calibri" pitchFamily="34" charset="0"/>
                <a:ea typeface="Calibri" pitchFamily="34" charset="-122"/>
                <a:cs typeface="Calibri" pitchFamily="34" charset="-120"/>
              </a:rPr>
              <a:t>日本語が破綻</a:t>
            </a:r>
            <a:endParaRPr lang="en-US" sz="1400" dirty="0"/>
          </a:p>
        </p:txBody>
      </p:sp>
      <p:sp>
        <p:nvSpPr>
          <p:cNvPr id="14" name="Text 12"/>
          <p:cNvSpPr txBox="1"/>
          <p:nvPr/>
        </p:nvSpPr>
        <p:spPr>
          <a:xfrm>
            <a:off x="7589520" y="3557016"/>
            <a:ext cx="1463040" cy="365760"/>
          </a:xfrm>
          <a:prstGeom prst="rect">
            <a:avLst/>
          </a:prstGeom>
          <a:noFill/>
          <a:ln/>
        </p:spPr>
        <p:txBody>
          <a:bodyPr wrap="square" lIns="0" tIns="0" rIns="0" bIns="0" rtlCol="0" anchor="ctr"/>
          <a:lstStyle/>
          <a:p>
            <a:pPr indent="0" marL="0">
              <a:buNone/>
            </a:pPr>
            <a:r>
              <a:rPr lang="en-US" sz="1400" dirty="0">
                <a:solidFill>
                  <a:srgbClr val="1B2230"/>
                </a:solidFill>
                <a:latin typeface="Courier New" pitchFamily="34" charset="0"/>
                <a:ea typeface="Courier New" pitchFamily="34" charset="-122"/>
                <a:cs typeface="Courier New" pitchFamily="34" charset="-120"/>
              </a:rPr>
              <a:t>0.3秒</a:t>
            </a:r>
            <a:endParaRPr lang="en-US" sz="1400" dirty="0"/>
          </a:p>
        </p:txBody>
      </p:sp>
      <p:sp>
        <p:nvSpPr>
          <p:cNvPr id="15" name="Shape 13"/>
          <p:cNvSpPr/>
          <p:nvPr/>
        </p:nvSpPr>
        <p:spPr>
          <a:xfrm>
            <a:off x="9692640" y="3547872"/>
            <a:ext cx="1371600" cy="384048"/>
          </a:xfrm>
          <a:prstGeom prst="roundRect">
            <a:avLst>
              <a:gd name="adj" fmla="val 19048"/>
            </a:avLst>
          </a:prstGeom>
          <a:solidFill>
            <a:srgbClr val="C4402A"/>
          </a:solidFill>
          <a:ln/>
        </p:spPr>
      </p:sp>
      <p:sp>
        <p:nvSpPr>
          <p:cNvPr id="16" name="Text 14"/>
          <p:cNvSpPr txBox="1"/>
          <p:nvPr/>
        </p:nvSpPr>
        <p:spPr>
          <a:xfrm>
            <a:off x="9692640" y="3547872"/>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不採用</a:t>
            </a:r>
            <a:endParaRPr lang="en-US" sz="1200" dirty="0"/>
          </a:p>
        </p:txBody>
      </p:sp>
      <p:sp>
        <p:nvSpPr>
          <p:cNvPr id="17" name="Shape 15"/>
          <p:cNvSpPr/>
          <p:nvPr/>
        </p:nvSpPr>
        <p:spPr>
          <a:xfrm>
            <a:off x="731520" y="4242816"/>
            <a:ext cx="10789920" cy="685800"/>
          </a:xfrm>
          <a:prstGeom prst="roundRect">
            <a:avLst>
              <a:gd name="adj" fmla="val 5333"/>
            </a:avLst>
          </a:prstGeom>
          <a:solidFill>
            <a:srgbClr val="E4E9F0"/>
          </a:solidFill>
          <a:ln/>
        </p:spPr>
      </p:sp>
      <p:sp>
        <p:nvSpPr>
          <p:cNvPr id="18" name="Text 16"/>
          <p:cNvSpPr txBox="1"/>
          <p:nvPr/>
        </p:nvSpPr>
        <p:spPr>
          <a:xfrm>
            <a:off x="1005840" y="4398264"/>
            <a:ext cx="3108960" cy="365760"/>
          </a:xfrm>
          <a:prstGeom prst="rect">
            <a:avLst/>
          </a:prstGeom>
          <a:noFill/>
          <a:ln/>
        </p:spPr>
        <p:txBody>
          <a:bodyPr wrap="square" lIns="0" tIns="0" rIns="0" bIns="0" rtlCol="0" anchor="ctr"/>
          <a:lstStyle/>
          <a:p>
            <a:pPr indent="0" marL="0">
              <a:buNone/>
            </a:pPr>
            <a:r>
              <a:rPr lang="en-US" sz="1500" dirty="0">
                <a:solidFill>
                  <a:srgbClr val="1B2230"/>
                </a:solidFill>
                <a:latin typeface="Courier New" pitchFamily="34" charset="0"/>
                <a:ea typeface="Courier New" pitchFamily="34" charset="-122"/>
                <a:cs typeface="Courier New" pitchFamily="34" charset="-120"/>
              </a:rPr>
              <a:t>qwen2.5:7b</a:t>
            </a:r>
            <a:endParaRPr lang="en-US" sz="1500" dirty="0"/>
          </a:p>
        </p:txBody>
      </p:sp>
      <p:sp>
        <p:nvSpPr>
          <p:cNvPr id="19" name="Text 17"/>
          <p:cNvSpPr txBox="1"/>
          <p:nvPr/>
        </p:nvSpPr>
        <p:spPr>
          <a:xfrm>
            <a:off x="4206240" y="4398264"/>
            <a:ext cx="3291840" cy="365760"/>
          </a:xfrm>
          <a:prstGeom prst="rect">
            <a:avLst/>
          </a:prstGeom>
          <a:noFill/>
          <a:ln/>
        </p:spPr>
        <p:txBody>
          <a:bodyPr wrap="square" lIns="0" tIns="0" rIns="0" bIns="0" rtlCol="0" anchor="ctr"/>
          <a:lstStyle/>
          <a:p>
            <a:pPr indent="0" marL="0">
              <a:buNone/>
            </a:pPr>
            <a:r>
              <a:rPr lang="en-US" sz="1400" dirty="0">
                <a:solidFill>
                  <a:srgbClr val="1B2230"/>
                </a:solidFill>
                <a:latin typeface="Calibri" pitchFamily="34" charset="0"/>
                <a:ea typeface="Calibri" pitchFamily="34" charset="-122"/>
                <a:cs typeface="Calibri" pitchFamily="34" charset="-120"/>
              </a:rPr>
              <a:t>外国語が混入 3/10回</a:t>
            </a:r>
            <a:endParaRPr lang="en-US" sz="1400" dirty="0"/>
          </a:p>
        </p:txBody>
      </p:sp>
      <p:sp>
        <p:nvSpPr>
          <p:cNvPr id="20" name="Text 18"/>
          <p:cNvSpPr txBox="1"/>
          <p:nvPr/>
        </p:nvSpPr>
        <p:spPr>
          <a:xfrm>
            <a:off x="7589520" y="4398264"/>
            <a:ext cx="1463040" cy="365760"/>
          </a:xfrm>
          <a:prstGeom prst="rect">
            <a:avLst/>
          </a:prstGeom>
          <a:noFill/>
          <a:ln/>
        </p:spPr>
        <p:txBody>
          <a:bodyPr wrap="square" lIns="0" tIns="0" rIns="0" bIns="0" rtlCol="0" anchor="ctr"/>
          <a:lstStyle/>
          <a:p>
            <a:pPr indent="0" marL="0">
              <a:buNone/>
            </a:pPr>
            <a:r>
              <a:rPr lang="en-US" sz="1400" dirty="0">
                <a:solidFill>
                  <a:srgbClr val="1B2230"/>
                </a:solidFill>
                <a:latin typeface="Courier New" pitchFamily="34" charset="0"/>
                <a:ea typeface="Courier New" pitchFamily="34" charset="-122"/>
                <a:cs typeface="Courier New" pitchFamily="34" charset="-120"/>
              </a:rPr>
              <a:t>1〜2秒</a:t>
            </a:r>
            <a:endParaRPr lang="en-US" sz="1400" dirty="0"/>
          </a:p>
        </p:txBody>
      </p:sp>
      <p:sp>
        <p:nvSpPr>
          <p:cNvPr id="21" name="Shape 19"/>
          <p:cNvSpPr/>
          <p:nvPr/>
        </p:nvSpPr>
        <p:spPr>
          <a:xfrm>
            <a:off x="9692640" y="4389120"/>
            <a:ext cx="1371600" cy="384048"/>
          </a:xfrm>
          <a:prstGeom prst="roundRect">
            <a:avLst>
              <a:gd name="adj" fmla="val 19048"/>
            </a:avLst>
          </a:prstGeom>
          <a:solidFill>
            <a:srgbClr val="B57B12"/>
          </a:solidFill>
          <a:ln/>
        </p:spPr>
      </p:sp>
      <p:sp>
        <p:nvSpPr>
          <p:cNvPr id="22" name="Text 20"/>
          <p:cNvSpPr txBox="1"/>
          <p:nvPr/>
        </p:nvSpPr>
        <p:spPr>
          <a:xfrm>
            <a:off x="9692640" y="4389120"/>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不採用</a:t>
            </a:r>
            <a:endParaRPr lang="en-US" sz="1200" dirty="0"/>
          </a:p>
        </p:txBody>
      </p:sp>
      <p:sp>
        <p:nvSpPr>
          <p:cNvPr id="23" name="Shape 21"/>
          <p:cNvSpPr/>
          <p:nvPr/>
        </p:nvSpPr>
        <p:spPr>
          <a:xfrm>
            <a:off x="731520" y="5084064"/>
            <a:ext cx="10789920" cy="685800"/>
          </a:xfrm>
          <a:prstGeom prst="roundRect">
            <a:avLst>
              <a:gd name="adj" fmla="val 5333"/>
            </a:avLst>
          </a:prstGeom>
          <a:solidFill>
            <a:srgbClr val="DCEFE6"/>
          </a:solidFill>
          <a:ln/>
        </p:spPr>
      </p:sp>
      <p:sp>
        <p:nvSpPr>
          <p:cNvPr id="24" name="Text 22"/>
          <p:cNvSpPr txBox="1"/>
          <p:nvPr/>
        </p:nvSpPr>
        <p:spPr>
          <a:xfrm>
            <a:off x="1005840" y="5239512"/>
            <a:ext cx="3108960" cy="365760"/>
          </a:xfrm>
          <a:prstGeom prst="rect">
            <a:avLst/>
          </a:prstGeom>
          <a:noFill/>
          <a:ln/>
        </p:spPr>
        <p:txBody>
          <a:bodyPr wrap="square" lIns="0" tIns="0" rIns="0" bIns="0" rtlCol="0" anchor="ctr"/>
          <a:lstStyle/>
          <a:p>
            <a:pPr indent="0" marL="0">
              <a:buNone/>
            </a:pPr>
            <a:r>
              <a:rPr lang="en-US" sz="1500" b="1" dirty="0">
                <a:solidFill>
                  <a:srgbClr val="1B2230"/>
                </a:solidFill>
                <a:latin typeface="Courier New" pitchFamily="34" charset="0"/>
                <a:ea typeface="Courier New" pitchFamily="34" charset="-122"/>
                <a:cs typeface="Courier New" pitchFamily="34" charset="-120"/>
              </a:rPr>
              <a:t>gemma2:9b</a:t>
            </a:r>
            <a:endParaRPr lang="en-US" sz="1500" dirty="0"/>
          </a:p>
        </p:txBody>
      </p:sp>
      <p:sp>
        <p:nvSpPr>
          <p:cNvPr id="25" name="Text 23"/>
          <p:cNvSpPr txBox="1"/>
          <p:nvPr/>
        </p:nvSpPr>
        <p:spPr>
          <a:xfrm>
            <a:off x="4206240" y="5239512"/>
            <a:ext cx="3291840" cy="365760"/>
          </a:xfrm>
          <a:prstGeom prst="rect">
            <a:avLst/>
          </a:prstGeom>
          <a:noFill/>
          <a:ln/>
        </p:spPr>
        <p:txBody>
          <a:bodyPr wrap="square" lIns="0" tIns="0" rIns="0" bIns="0" rtlCol="0" anchor="ctr"/>
          <a:lstStyle/>
          <a:p>
            <a:pPr indent="0" marL="0">
              <a:buNone/>
            </a:pPr>
            <a:r>
              <a:rPr lang="en-US" sz="1400" dirty="0">
                <a:solidFill>
                  <a:srgbClr val="1B2230"/>
                </a:solidFill>
                <a:latin typeface="Calibri" pitchFamily="34" charset="0"/>
                <a:ea typeface="Calibri" pitchFamily="34" charset="-122"/>
                <a:cs typeface="Calibri" pitchFamily="34" charset="-120"/>
              </a:rPr>
              <a:t>混入 0/10回</a:t>
            </a:r>
            <a:endParaRPr lang="en-US" sz="1400" dirty="0"/>
          </a:p>
        </p:txBody>
      </p:sp>
      <p:sp>
        <p:nvSpPr>
          <p:cNvPr id="26" name="Text 24"/>
          <p:cNvSpPr txBox="1"/>
          <p:nvPr/>
        </p:nvSpPr>
        <p:spPr>
          <a:xfrm>
            <a:off x="7589520" y="5239512"/>
            <a:ext cx="1463040" cy="365760"/>
          </a:xfrm>
          <a:prstGeom prst="rect">
            <a:avLst/>
          </a:prstGeom>
          <a:noFill/>
          <a:ln/>
        </p:spPr>
        <p:txBody>
          <a:bodyPr wrap="square" lIns="0" tIns="0" rIns="0" bIns="0" rtlCol="0" anchor="ctr"/>
          <a:lstStyle/>
          <a:p>
            <a:pPr indent="0" marL="0">
              <a:buNone/>
            </a:pPr>
            <a:r>
              <a:rPr lang="en-US" sz="1400" dirty="0">
                <a:solidFill>
                  <a:srgbClr val="1B2230"/>
                </a:solidFill>
                <a:latin typeface="Courier New" pitchFamily="34" charset="0"/>
                <a:ea typeface="Courier New" pitchFamily="34" charset="-122"/>
                <a:cs typeface="Courier New" pitchFamily="34" charset="-120"/>
              </a:rPr>
              <a:t>1.8秒</a:t>
            </a:r>
            <a:endParaRPr lang="en-US" sz="1400" dirty="0"/>
          </a:p>
        </p:txBody>
      </p:sp>
      <p:sp>
        <p:nvSpPr>
          <p:cNvPr id="27" name="Shape 25"/>
          <p:cNvSpPr/>
          <p:nvPr/>
        </p:nvSpPr>
        <p:spPr>
          <a:xfrm>
            <a:off x="9692640" y="5230368"/>
            <a:ext cx="1371600" cy="384048"/>
          </a:xfrm>
          <a:prstGeom prst="roundRect">
            <a:avLst>
              <a:gd name="adj" fmla="val 19048"/>
            </a:avLst>
          </a:prstGeom>
          <a:solidFill>
            <a:srgbClr val="1F7A56"/>
          </a:solidFill>
          <a:ln/>
        </p:spPr>
      </p:sp>
      <p:sp>
        <p:nvSpPr>
          <p:cNvPr id="28" name="Text 26"/>
          <p:cNvSpPr txBox="1"/>
          <p:nvPr/>
        </p:nvSpPr>
        <p:spPr>
          <a:xfrm>
            <a:off x="9692640" y="523036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採用</a:t>
            </a:r>
            <a:endParaRPr lang="en-US" sz="1200" dirty="0"/>
          </a:p>
        </p:txBody>
      </p:sp>
      <p:sp>
        <p:nvSpPr>
          <p:cNvPr id="29" name="Text 27"/>
          <p:cNvSpPr txBox="1"/>
          <p:nvPr/>
        </p:nvSpPr>
        <p:spPr>
          <a:xfrm>
            <a:off x="731520" y="6035040"/>
            <a:ext cx="10789920" cy="365760"/>
          </a:xfrm>
          <a:prstGeom prst="rect">
            <a:avLst/>
          </a:prstGeom>
          <a:noFill/>
          <a:ln/>
        </p:spPr>
        <p:txBody>
          <a:bodyPr wrap="square" lIns="0" tIns="0" rIns="0" bIns="0" rtlCol="0" anchor="ctr"/>
          <a:lstStyle/>
          <a:p>
            <a:pPr indent="0" marL="0">
              <a:buNone/>
            </a:pPr>
            <a:r>
              <a:rPr lang="en-US" sz="1400" dirty="0">
                <a:solidFill>
                  <a:srgbClr val="6B7688"/>
                </a:solidFill>
                <a:latin typeface="Calibri" pitchFamily="34" charset="0"/>
                <a:ea typeface="Calibri" pitchFamily="34" charset="-122"/>
                <a:cs typeface="Calibri" pitchFamily="34" charset="-120"/>
              </a:rPr>
              <a:t>パラメータ数が近い 7B と 9B で差が出た。決め手は「日本語でどれだけ訓練されたか」</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230"/>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テストで見つけた、最も危険な問題</a:t>
            </a:r>
            <a:endParaRPr lang="en-US" sz="3600" dirty="0"/>
          </a:p>
        </p:txBody>
      </p:sp>
      <p:sp>
        <p:nvSpPr>
          <p:cNvPr id="3" name="Text 1"/>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500" dirty="0">
                <a:solidFill>
                  <a:srgbClr val="6B7688"/>
                </a:solidFill>
                <a:latin typeface="Calibri" pitchFamily="34" charset="0"/>
                <a:ea typeface="Calibri" pitchFamily="34" charset="-122"/>
                <a:cs typeface="Calibri" pitchFamily="34" charset="-120"/>
              </a:rPr>
              <a:t>「5秒以内」と約束していたのに、実際は最大95秒かかっていた</a:t>
            </a:r>
            <a:endParaRPr lang="en-US" sz="1500" dirty="0"/>
          </a:p>
        </p:txBody>
      </p:sp>
      <p:sp>
        <p:nvSpPr>
          <p:cNvPr id="4" name="Shape 2"/>
          <p:cNvSpPr/>
          <p:nvPr/>
        </p:nvSpPr>
        <p:spPr>
          <a:xfrm>
            <a:off x="640080" y="2011680"/>
            <a:ext cx="10881360" cy="1051560"/>
          </a:xfrm>
          <a:prstGeom prst="roundRect">
            <a:avLst>
              <a:gd name="adj" fmla="val 4348"/>
            </a:avLst>
          </a:prstGeom>
          <a:solidFill>
            <a:srgbClr val="2A3446"/>
          </a:solidFill>
          <a:ln/>
        </p:spPr>
      </p:sp>
      <p:sp>
        <p:nvSpPr>
          <p:cNvPr id="5" name="Text 3"/>
          <p:cNvSpPr txBox="1"/>
          <p:nvPr/>
        </p:nvSpPr>
        <p:spPr>
          <a:xfrm>
            <a:off x="960120" y="2148840"/>
            <a:ext cx="3657600" cy="320040"/>
          </a:xfrm>
          <a:prstGeom prst="rect">
            <a:avLst/>
          </a:prstGeom>
          <a:noFill/>
          <a:ln/>
        </p:spPr>
        <p:txBody>
          <a:bodyPr wrap="square" lIns="0" tIns="0" rIns="0" bIns="0" rtlCol="0" anchor="ctr"/>
          <a:lstStyle/>
          <a:p>
            <a:pPr indent="0" marL="0">
              <a:buNone/>
            </a:pPr>
            <a:r>
              <a:rPr lang="en-US" sz="1400" b="1" dirty="0">
                <a:solidFill>
                  <a:srgbClr val="B57B12"/>
                </a:solidFill>
                <a:latin typeface="Calibri" pitchFamily="34" charset="0"/>
                <a:ea typeface="Calibri" pitchFamily="34" charset="-122"/>
                <a:cs typeface="Calibri" pitchFamily="34" charset="-120"/>
              </a:rPr>
              <a:t>なぜ気づけなかったか</a:t>
            </a:r>
            <a:endParaRPr lang="en-US" sz="1400" dirty="0"/>
          </a:p>
        </p:txBody>
      </p:sp>
      <p:sp>
        <p:nvSpPr>
          <p:cNvPr id="6" name="Text 4"/>
          <p:cNvSpPr txBox="1"/>
          <p:nvPr/>
        </p:nvSpPr>
        <p:spPr>
          <a:xfrm>
            <a:off x="960120" y="2514600"/>
            <a:ext cx="10241280" cy="365760"/>
          </a:xfrm>
          <a:prstGeom prst="rect">
            <a:avLst/>
          </a:prstGeom>
          <a:noFill/>
          <a:ln/>
        </p:spPr>
        <p:txBody>
          <a:bodyPr wrap="square" lIns="0" tIns="0" rIns="0" bIns="0" rtlCol="0" anchor="ctr"/>
          <a:lstStyle/>
          <a:p>
            <a:pPr indent="0" marL="0">
              <a:buNone/>
            </a:pPr>
            <a:r>
              <a:rPr lang="en-US" sz="1400" dirty="0">
                <a:solidFill>
                  <a:srgbClr val="6B7688"/>
                </a:solidFill>
                <a:latin typeface="Calibri" pitchFamily="34" charset="0"/>
                <a:ea typeface="Calibri" pitchFamily="34" charset="-122"/>
                <a:cs typeface="Calibri" pitchFamily="34" charset="-120"/>
              </a:rPr>
              <a:t>連続して試していたため、AIが常にメモリに載った状態で計測していた。実際の利用者は久しぶりに開く。</a:t>
            </a:r>
            <a:endParaRPr lang="en-US" sz="1400" dirty="0"/>
          </a:p>
        </p:txBody>
      </p:sp>
      <p:sp>
        <p:nvSpPr>
          <p:cNvPr id="7" name="Text 5"/>
          <p:cNvSpPr txBox="1"/>
          <p:nvPr/>
        </p:nvSpPr>
        <p:spPr>
          <a:xfrm>
            <a:off x="822960" y="3566160"/>
            <a:ext cx="2743200" cy="320040"/>
          </a:xfrm>
          <a:prstGeom prst="rect">
            <a:avLst/>
          </a:prstGeom>
          <a:noFill/>
          <a:ln/>
        </p:spPr>
        <p:txBody>
          <a:bodyPr wrap="square" lIns="0" tIns="0" rIns="0" bIns="0" rtlCol="0" anchor="ctr"/>
          <a:lstStyle/>
          <a:p>
            <a:pPr indent="0" marL="0">
              <a:buNone/>
            </a:pPr>
            <a:r>
              <a:rPr lang="en-US" sz="1400" b="1" dirty="0">
                <a:solidFill>
                  <a:srgbClr val="C4402A"/>
                </a:solidFill>
                <a:latin typeface="Calibri" pitchFamily="34" charset="0"/>
                <a:ea typeface="Calibri" pitchFamily="34" charset="-122"/>
                <a:cs typeface="Calibri" pitchFamily="34" charset="-120"/>
              </a:rPr>
              <a:t>修正前</a:t>
            </a:r>
            <a:endParaRPr lang="en-US" sz="1400" dirty="0"/>
          </a:p>
        </p:txBody>
      </p:sp>
      <p:sp>
        <p:nvSpPr>
          <p:cNvPr id="8" name="Text 6"/>
          <p:cNvSpPr txBox="1"/>
          <p:nvPr/>
        </p:nvSpPr>
        <p:spPr>
          <a:xfrm>
            <a:off x="822960" y="3803904"/>
            <a:ext cx="8823960" cy="274320"/>
          </a:xfrm>
          <a:prstGeom prst="rect">
            <a:avLst/>
          </a:prstGeom>
          <a:noFill/>
          <a:ln/>
        </p:spPr>
        <p:txBody>
          <a:bodyPr wrap="square" lIns="0" tIns="0" rIns="0" bIns="0" rtlCol="0" anchor="ctr"/>
          <a:lstStyle/>
          <a:p>
            <a:pPr indent="0" marL="0">
              <a:buNone/>
            </a:pPr>
            <a:r>
              <a:rPr lang="en-US" sz="1200" dirty="0">
                <a:solidFill>
                  <a:srgbClr val="6B7688"/>
                </a:solidFill>
                <a:latin typeface="Calibri" pitchFamily="34" charset="0"/>
                <a:ea typeface="Calibri" pitchFamily="34" charset="-122"/>
                <a:cs typeface="Calibri" pitchFamily="34" charset="-120"/>
              </a:rPr>
              <a:t>久しぶりの1回目</a:t>
            </a:r>
            <a:endParaRPr lang="en-US" sz="1200" dirty="0"/>
          </a:p>
        </p:txBody>
      </p:sp>
      <p:sp>
        <p:nvSpPr>
          <p:cNvPr id="9" name="Text 7"/>
          <p:cNvSpPr txBox="1"/>
          <p:nvPr/>
        </p:nvSpPr>
        <p:spPr>
          <a:xfrm>
            <a:off x="9784080" y="3749040"/>
            <a:ext cx="1463040" cy="365760"/>
          </a:xfrm>
          <a:prstGeom prst="rect">
            <a:avLst/>
          </a:prstGeom>
          <a:noFill/>
          <a:ln/>
        </p:spPr>
        <p:txBody>
          <a:bodyPr wrap="square" lIns="0" tIns="0" rIns="0" bIns="0" rtlCol="0" anchor="ctr"/>
          <a:lstStyle/>
          <a:p>
            <a:pPr algn="r" indent="0" marL="0">
              <a:buNone/>
            </a:pPr>
            <a:r>
              <a:rPr lang="en-US" sz="2000" b="1" dirty="0">
                <a:solidFill>
                  <a:srgbClr val="C4402A"/>
                </a:solidFill>
                <a:latin typeface="Courier New" pitchFamily="34" charset="0"/>
                <a:ea typeface="Courier New" pitchFamily="34" charset="-122"/>
                <a:cs typeface="Courier New" pitchFamily="34" charset="-120"/>
              </a:rPr>
              <a:t>95.2 秒</a:t>
            </a:r>
            <a:endParaRPr lang="en-US" sz="2000" dirty="0"/>
          </a:p>
        </p:txBody>
      </p:sp>
      <p:sp>
        <p:nvSpPr>
          <p:cNvPr id="10" name="Shape 8"/>
          <p:cNvSpPr/>
          <p:nvPr/>
        </p:nvSpPr>
        <p:spPr>
          <a:xfrm>
            <a:off x="822960" y="4114800"/>
            <a:ext cx="10424160" cy="201168"/>
          </a:xfrm>
          <a:prstGeom prst="rect">
            <a:avLst/>
          </a:prstGeom>
          <a:solidFill>
            <a:srgbClr val="F0F2F6"/>
          </a:solidFill>
          <a:ln/>
        </p:spPr>
      </p:sp>
      <p:sp>
        <p:nvSpPr>
          <p:cNvPr id="11" name="Shape 9"/>
          <p:cNvSpPr/>
          <p:nvPr/>
        </p:nvSpPr>
        <p:spPr>
          <a:xfrm>
            <a:off x="822960" y="4114800"/>
            <a:ext cx="10424160" cy="201168"/>
          </a:xfrm>
          <a:prstGeom prst="rect">
            <a:avLst/>
          </a:prstGeom>
          <a:solidFill>
            <a:srgbClr val="C4402A"/>
          </a:solidFill>
          <a:ln/>
        </p:spPr>
      </p:sp>
      <p:sp>
        <p:nvSpPr>
          <p:cNvPr id="12" name="Text 10"/>
          <p:cNvSpPr txBox="1"/>
          <p:nvPr/>
        </p:nvSpPr>
        <p:spPr>
          <a:xfrm>
            <a:off x="822960" y="4434840"/>
            <a:ext cx="3657600" cy="274320"/>
          </a:xfrm>
          <a:prstGeom prst="rect">
            <a:avLst/>
          </a:prstGeom>
          <a:noFill/>
          <a:ln/>
        </p:spPr>
        <p:txBody>
          <a:bodyPr wrap="square" lIns="0" tIns="0" rIns="0" bIns="0" rtlCol="0" anchor="ctr"/>
          <a:lstStyle/>
          <a:p>
            <a:pPr indent="0" marL="0">
              <a:buNone/>
            </a:pPr>
            <a:r>
              <a:rPr lang="en-US" sz="1200" dirty="0">
                <a:solidFill>
                  <a:srgbClr val="C4402A"/>
                </a:solidFill>
                <a:latin typeface="Courier New" pitchFamily="34" charset="0"/>
                <a:ea typeface="Courier New" pitchFamily="34" charset="-122"/>
                <a:cs typeface="Courier New" pitchFamily="34" charset="-120"/>
              </a:rPr>
              <a:t>約束の19倍</a:t>
            </a:r>
            <a:endParaRPr lang="en-US" sz="1200" dirty="0"/>
          </a:p>
        </p:txBody>
      </p:sp>
      <p:sp>
        <p:nvSpPr>
          <p:cNvPr id="13" name="Text 11"/>
          <p:cNvSpPr txBox="1"/>
          <p:nvPr/>
        </p:nvSpPr>
        <p:spPr>
          <a:xfrm>
            <a:off x="822960" y="5029200"/>
            <a:ext cx="2743200" cy="320040"/>
          </a:xfrm>
          <a:prstGeom prst="rect">
            <a:avLst/>
          </a:prstGeom>
          <a:noFill/>
          <a:ln/>
        </p:spPr>
        <p:txBody>
          <a:bodyPr wrap="square" lIns="0" tIns="0" rIns="0" bIns="0" rtlCol="0" anchor="ctr"/>
          <a:lstStyle/>
          <a:p>
            <a:pPr indent="0" marL="0">
              <a:buNone/>
            </a:pPr>
            <a:r>
              <a:rPr lang="en-US" sz="1400" b="1" dirty="0">
                <a:solidFill>
                  <a:srgbClr val="1F7A56"/>
                </a:solidFill>
                <a:latin typeface="Calibri" pitchFamily="34" charset="0"/>
                <a:ea typeface="Calibri" pitchFamily="34" charset="-122"/>
                <a:cs typeface="Calibri" pitchFamily="34" charset="-120"/>
              </a:rPr>
              <a:t>修正後</a:t>
            </a:r>
            <a:endParaRPr lang="en-US" sz="1400" dirty="0"/>
          </a:p>
        </p:txBody>
      </p:sp>
      <p:sp>
        <p:nvSpPr>
          <p:cNvPr id="14" name="Text 12"/>
          <p:cNvSpPr txBox="1"/>
          <p:nvPr/>
        </p:nvSpPr>
        <p:spPr>
          <a:xfrm>
            <a:off x="822960" y="5266944"/>
            <a:ext cx="8823960" cy="274320"/>
          </a:xfrm>
          <a:prstGeom prst="rect">
            <a:avLst/>
          </a:prstGeom>
          <a:noFill/>
          <a:ln/>
        </p:spPr>
        <p:txBody>
          <a:bodyPr wrap="square" lIns="0" tIns="0" rIns="0" bIns="0" rtlCol="0" anchor="ctr"/>
          <a:lstStyle/>
          <a:p>
            <a:pPr indent="0" marL="0">
              <a:buNone/>
            </a:pPr>
            <a:r>
              <a:rPr lang="en-US" sz="1200" dirty="0">
                <a:solidFill>
                  <a:srgbClr val="6B7688"/>
                </a:solidFill>
                <a:latin typeface="Calibri" pitchFamily="34" charset="0"/>
                <a:ea typeface="Calibri" pitchFamily="34" charset="-122"/>
                <a:cs typeface="Calibri" pitchFamily="34" charset="-120"/>
              </a:rPr>
              <a:t>久しぶりの1回目</a:t>
            </a:r>
            <a:endParaRPr lang="en-US" sz="1200" dirty="0"/>
          </a:p>
        </p:txBody>
      </p:sp>
      <p:sp>
        <p:nvSpPr>
          <p:cNvPr id="15" name="Text 13"/>
          <p:cNvSpPr txBox="1"/>
          <p:nvPr/>
        </p:nvSpPr>
        <p:spPr>
          <a:xfrm>
            <a:off x="9784080" y="5212080"/>
            <a:ext cx="1463040" cy="365760"/>
          </a:xfrm>
          <a:prstGeom prst="rect">
            <a:avLst/>
          </a:prstGeom>
          <a:noFill/>
          <a:ln/>
        </p:spPr>
        <p:txBody>
          <a:bodyPr wrap="square" lIns="0" tIns="0" rIns="0" bIns="0" rtlCol="0" anchor="ctr"/>
          <a:lstStyle/>
          <a:p>
            <a:pPr algn="r" indent="0" marL="0">
              <a:buNone/>
            </a:pPr>
            <a:r>
              <a:rPr lang="en-US" sz="2000" b="1" dirty="0">
                <a:solidFill>
                  <a:srgbClr val="1F7A56"/>
                </a:solidFill>
                <a:latin typeface="Courier New" pitchFamily="34" charset="0"/>
                <a:ea typeface="Courier New" pitchFamily="34" charset="-122"/>
                <a:cs typeface="Courier New" pitchFamily="34" charset="-120"/>
              </a:rPr>
              <a:t>3.3 秒</a:t>
            </a:r>
            <a:endParaRPr lang="en-US" sz="2000" dirty="0"/>
          </a:p>
        </p:txBody>
      </p:sp>
      <p:sp>
        <p:nvSpPr>
          <p:cNvPr id="16" name="Shape 14"/>
          <p:cNvSpPr/>
          <p:nvPr/>
        </p:nvSpPr>
        <p:spPr>
          <a:xfrm>
            <a:off x="822960" y="5577840"/>
            <a:ext cx="10424160" cy="201168"/>
          </a:xfrm>
          <a:prstGeom prst="rect">
            <a:avLst/>
          </a:prstGeom>
          <a:solidFill>
            <a:srgbClr val="F0F2F6"/>
          </a:solidFill>
          <a:ln/>
        </p:spPr>
      </p:sp>
      <p:sp>
        <p:nvSpPr>
          <p:cNvPr id="17" name="Shape 15"/>
          <p:cNvSpPr/>
          <p:nvPr/>
        </p:nvSpPr>
        <p:spPr>
          <a:xfrm>
            <a:off x="822960" y="5577840"/>
            <a:ext cx="364846" cy="201168"/>
          </a:xfrm>
          <a:prstGeom prst="rect">
            <a:avLst/>
          </a:prstGeom>
          <a:solidFill>
            <a:srgbClr val="1F7A56"/>
          </a:solidFill>
          <a:ln/>
        </p:spPr>
      </p:sp>
      <p:sp>
        <p:nvSpPr>
          <p:cNvPr id="18" name="Text 16"/>
          <p:cNvSpPr txBox="1"/>
          <p:nvPr/>
        </p:nvSpPr>
        <p:spPr>
          <a:xfrm>
            <a:off x="822960" y="5897880"/>
            <a:ext cx="7315200" cy="274320"/>
          </a:xfrm>
          <a:prstGeom prst="rect">
            <a:avLst/>
          </a:prstGeom>
          <a:noFill/>
          <a:ln/>
        </p:spPr>
        <p:txBody>
          <a:bodyPr wrap="square" lIns="0" tIns="0" rIns="0" bIns="0" rtlCol="0" anchor="ctr"/>
          <a:lstStyle/>
          <a:p>
            <a:pPr indent="0" marL="0">
              <a:buNone/>
            </a:pPr>
            <a:r>
              <a:rPr lang="en-US" sz="1200" dirty="0">
                <a:solidFill>
                  <a:srgbClr val="6B7688"/>
                </a:solidFill>
                <a:latin typeface="Calibri" pitchFamily="34" charset="0"/>
                <a:ea typeface="Calibri" pitchFamily="34" charset="-122"/>
                <a:cs typeface="Calibri" pitchFamily="34" charset="-120"/>
              </a:rPr>
              <a:t>起動時にAIを温め、メモリから追い出されない設定にした</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D"/>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1B2230"/>
                </a:solidFill>
                <a:latin typeface="Cambria" pitchFamily="34" charset="0"/>
                <a:ea typeface="Cambria" pitchFamily="34" charset="-122"/>
                <a:cs typeface="Cambria" pitchFamily="34" charset="-120"/>
              </a:rPr>
              <a:t>自分では気づけなかった問題</a:t>
            </a:r>
            <a:endParaRPr lang="en-US" sz="3600" dirty="0"/>
          </a:p>
        </p:txBody>
      </p:sp>
      <p:sp>
        <p:nvSpPr>
          <p:cNvPr id="3" name="Text 1"/>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500" dirty="0">
                <a:solidFill>
                  <a:srgbClr val="6B7688"/>
                </a:solidFill>
                <a:latin typeface="Calibri" pitchFamily="34" charset="0"/>
                <a:ea typeface="Calibri" pitchFamily="34" charset="-122"/>
                <a:cs typeface="Calibri" pitchFamily="34" charset="-120"/>
              </a:rPr>
              <a:t>実際に使ってもらって初めて分かった</a:t>
            </a:r>
            <a:endParaRPr lang="en-US" sz="1500" dirty="0"/>
          </a:p>
        </p:txBody>
      </p:sp>
      <p:sp>
        <p:nvSpPr>
          <p:cNvPr id="4" name="Shape 2"/>
          <p:cNvSpPr/>
          <p:nvPr/>
        </p:nvSpPr>
        <p:spPr>
          <a:xfrm>
            <a:off x="731520" y="2103120"/>
            <a:ext cx="5212080" cy="1828800"/>
          </a:xfrm>
          <a:prstGeom prst="roundRect">
            <a:avLst>
              <a:gd name="adj" fmla="val 3000"/>
            </a:avLst>
          </a:prstGeom>
          <a:solidFill>
            <a:srgbClr val="FBE9E4"/>
          </a:solidFill>
          <a:ln/>
        </p:spPr>
      </p:sp>
      <p:sp>
        <p:nvSpPr>
          <p:cNvPr id="5" name="Text 3"/>
          <p:cNvSpPr txBox="1"/>
          <p:nvPr/>
        </p:nvSpPr>
        <p:spPr>
          <a:xfrm>
            <a:off x="1051560" y="2286000"/>
            <a:ext cx="4572000" cy="274320"/>
          </a:xfrm>
          <a:prstGeom prst="rect">
            <a:avLst/>
          </a:prstGeom>
          <a:noFill/>
          <a:ln/>
        </p:spPr>
        <p:txBody>
          <a:bodyPr wrap="square" lIns="0" tIns="0" rIns="0" bIns="0" rtlCol="0" anchor="ctr"/>
          <a:lstStyle/>
          <a:p>
            <a:pPr indent="0" marL="0">
              <a:buNone/>
            </a:pPr>
            <a:r>
              <a:rPr lang="en-US" sz="1200" dirty="0">
                <a:solidFill>
                  <a:srgbClr val="C4402A"/>
                </a:solidFill>
                <a:latin typeface="Courier New" pitchFamily="34" charset="0"/>
                <a:ea typeface="Courier New" pitchFamily="34" charset="-122"/>
                <a:cs typeface="Courier New" pitchFamily="34" charset="-120"/>
              </a:rPr>
              <a:t>使ってもらった感想</a:t>
            </a:r>
            <a:endParaRPr lang="en-US" sz="1200" dirty="0"/>
          </a:p>
        </p:txBody>
      </p:sp>
      <p:sp>
        <p:nvSpPr>
          <p:cNvPr id="6" name="Text 4"/>
          <p:cNvSpPr txBox="1"/>
          <p:nvPr/>
        </p:nvSpPr>
        <p:spPr>
          <a:xfrm>
            <a:off x="1051560" y="2651760"/>
            <a:ext cx="4572000" cy="1005840"/>
          </a:xfrm>
          <a:prstGeom prst="rect">
            <a:avLst/>
          </a:prstGeom>
          <a:noFill/>
          <a:ln/>
        </p:spPr>
        <p:txBody>
          <a:bodyPr wrap="square" lIns="0" tIns="0" rIns="0" bIns="0" rtlCol="0" anchor="ctr"/>
          <a:lstStyle/>
          <a:p>
            <a:pPr indent="0" marL="0">
              <a:lnSpc>
                <a:spcPts val="2600"/>
              </a:lnSpc>
              <a:buNone/>
            </a:pPr>
            <a:r>
              <a:rPr lang="en-US" sz="1700" b="1" dirty="0">
                <a:solidFill>
                  <a:srgbClr val="C4402A"/>
                </a:solidFill>
                <a:latin typeface="Calibri" pitchFamily="34" charset="0"/>
                <a:ea typeface="Calibri" pitchFamily="34" charset="-122"/>
                <a:cs typeface="Calibri" pitchFamily="34" charset="-120"/>
              </a:rPr>
              <a:t>「お客様のメッセージが返信しづらい。</a:t>
            </a:r>
            <a:endParaRPr lang="en-US" sz="1700" dirty="0"/>
          </a:p>
          <a:p>
            <a:pPr indent="0" marL="0">
              <a:lnSpc>
                <a:spcPts val="2600"/>
              </a:lnSpc>
              <a:buNone/>
            </a:pPr>
            <a:r>
              <a:rPr lang="en-US" sz="1700" b="1" dirty="0">
                <a:solidFill>
                  <a:srgbClr val="C4402A"/>
                </a:solidFill>
                <a:latin typeface="Calibri" pitchFamily="34" charset="0"/>
                <a:ea typeface="Calibri" pitchFamily="34" charset="-122"/>
                <a:cs typeface="Calibri" pitchFamily="34" charset="-120"/>
              </a:rPr>
              <a:t>会話が3ラリーで終わってしまう」</a:t>
            </a:r>
            <a:endParaRPr lang="en-US" sz="1700" dirty="0"/>
          </a:p>
        </p:txBody>
      </p:sp>
      <p:sp>
        <p:nvSpPr>
          <p:cNvPr id="7" name="Shape 5"/>
          <p:cNvSpPr/>
          <p:nvPr/>
        </p:nvSpPr>
        <p:spPr>
          <a:xfrm>
            <a:off x="6309360" y="2103120"/>
            <a:ext cx="5212080" cy="1828800"/>
          </a:xfrm>
          <a:prstGeom prst="roundRect">
            <a:avLst>
              <a:gd name="adj" fmla="val 3000"/>
            </a:avLst>
          </a:prstGeom>
          <a:solidFill>
            <a:srgbClr val="FFFFFF"/>
          </a:solidFill>
          <a:ln w="12700">
            <a:solidFill>
              <a:srgbClr val="DFE3EA"/>
            </a:solidFill>
            <a:prstDash val="solid"/>
          </a:ln>
        </p:spPr>
      </p:sp>
      <p:sp>
        <p:nvSpPr>
          <p:cNvPr id="8" name="Text 6"/>
          <p:cNvSpPr txBox="1"/>
          <p:nvPr/>
        </p:nvSpPr>
        <p:spPr>
          <a:xfrm>
            <a:off x="6629400" y="2286000"/>
            <a:ext cx="4572000" cy="274320"/>
          </a:xfrm>
          <a:prstGeom prst="rect">
            <a:avLst/>
          </a:prstGeom>
          <a:noFill/>
          <a:ln/>
        </p:spPr>
        <p:txBody>
          <a:bodyPr wrap="square" lIns="0" tIns="0" rIns="0" bIns="0" rtlCol="0" anchor="ctr"/>
          <a:lstStyle/>
          <a:p>
            <a:pPr indent="0" marL="0">
              <a:buNone/>
            </a:pPr>
            <a:r>
              <a:rPr lang="en-US" sz="1200" dirty="0">
                <a:solidFill>
                  <a:srgbClr val="6B7688"/>
                </a:solidFill>
                <a:latin typeface="Courier New" pitchFamily="34" charset="0"/>
                <a:ea typeface="Courier New" pitchFamily="34" charset="-122"/>
                <a:cs typeface="Courier New" pitchFamily="34" charset="-120"/>
              </a:rPr>
              <a:t>原因</a:t>
            </a:r>
            <a:endParaRPr lang="en-US" sz="1200" dirty="0"/>
          </a:p>
        </p:txBody>
      </p:sp>
      <p:sp>
        <p:nvSpPr>
          <p:cNvPr id="9" name="Text 7"/>
          <p:cNvSpPr txBox="1"/>
          <p:nvPr/>
        </p:nvSpPr>
        <p:spPr>
          <a:xfrm>
            <a:off x="6629400" y="2651760"/>
            <a:ext cx="4572000" cy="1005840"/>
          </a:xfrm>
          <a:prstGeom prst="rect">
            <a:avLst/>
          </a:prstGeom>
          <a:noFill/>
          <a:ln/>
        </p:spPr>
        <p:txBody>
          <a:bodyPr wrap="square" lIns="0" tIns="0" rIns="0" bIns="0" rtlCol="0" anchor="ctr"/>
          <a:lstStyle/>
          <a:p>
            <a:pPr indent="0" marL="0">
              <a:lnSpc>
                <a:spcPts val="2600"/>
              </a:lnSpc>
              <a:buNone/>
            </a:pPr>
            <a:r>
              <a:rPr lang="en-US" sz="1600" dirty="0">
                <a:solidFill>
                  <a:srgbClr val="1B2230"/>
                </a:solidFill>
                <a:latin typeface="Calibri" pitchFamily="34" charset="0"/>
                <a:ea typeface="Calibri" pitchFamily="34" charset="-122"/>
                <a:cs typeface="Calibri" pitchFamily="34" charset="-120"/>
              </a:rPr>
              <a:t>良い応対1回で怒りが20下がる。</a:t>
            </a:r>
            <a:endParaRPr lang="en-US" sz="1600" dirty="0"/>
          </a:p>
          <a:p>
            <a:pPr indent="0" marL="0">
              <a:lnSpc>
                <a:spcPts val="2600"/>
              </a:lnSpc>
              <a:buNone/>
            </a:pPr>
            <a:r>
              <a:rPr lang="en-US" sz="1600" dirty="0">
                <a:solidFill>
                  <a:srgbClr val="1B2230"/>
                </a:solidFill>
                <a:latin typeface="Calibri" pitchFamily="34" charset="0"/>
                <a:ea typeface="Calibri" pitchFamily="34" charset="-122"/>
                <a:cs typeface="Calibri" pitchFamily="34" charset="-120"/>
              </a:rPr>
              <a:t>80から始めると3回で目標に届く。</a:t>
            </a:r>
            <a:endParaRPr lang="en-US" sz="1600" dirty="0"/>
          </a:p>
        </p:txBody>
      </p:sp>
      <p:sp>
        <p:nvSpPr>
          <p:cNvPr id="10" name="Text 8"/>
          <p:cNvSpPr txBox="1"/>
          <p:nvPr/>
        </p:nvSpPr>
        <p:spPr>
          <a:xfrm>
            <a:off x="731520" y="4206240"/>
            <a:ext cx="4572000" cy="320040"/>
          </a:xfrm>
          <a:prstGeom prst="rect">
            <a:avLst/>
          </a:prstGeom>
          <a:noFill/>
          <a:ln/>
        </p:spPr>
        <p:txBody>
          <a:bodyPr wrap="square" lIns="0" tIns="0" rIns="0" bIns="0" rtlCol="0" anchor="ctr"/>
          <a:lstStyle/>
          <a:p>
            <a:pPr indent="0" marL="0">
              <a:buNone/>
            </a:pPr>
            <a:r>
              <a:rPr lang="en-US" sz="1600" b="1" dirty="0">
                <a:solidFill>
                  <a:srgbClr val="1B2230"/>
                </a:solidFill>
                <a:latin typeface="Calibri" pitchFamily="34" charset="0"/>
                <a:ea typeface="Calibri" pitchFamily="34" charset="-122"/>
                <a:cs typeface="Calibri" pitchFamily="34" charset="-120"/>
              </a:rPr>
              <a:t>対応</a:t>
            </a:r>
            <a:endParaRPr lang="en-US" sz="1600" dirty="0"/>
          </a:p>
        </p:txBody>
      </p:sp>
      <p:sp>
        <p:nvSpPr>
          <p:cNvPr id="11" name="Text 9"/>
          <p:cNvSpPr txBox="1"/>
          <p:nvPr/>
        </p:nvSpPr>
        <p:spPr>
          <a:xfrm>
            <a:off x="731520" y="4572000"/>
            <a:ext cx="10789920" cy="365760"/>
          </a:xfrm>
          <a:prstGeom prst="rect">
            <a:avLst/>
          </a:prstGeom>
          <a:noFill/>
          <a:ln/>
        </p:spPr>
        <p:txBody>
          <a:bodyPr wrap="square" lIns="0" tIns="0" rIns="0" bIns="0" rtlCol="0" anchor="ctr"/>
          <a:lstStyle/>
          <a:p>
            <a:pPr indent="0" marL="0">
              <a:buNone/>
            </a:pPr>
            <a:r>
              <a:rPr lang="en-US" sz="1400" dirty="0">
                <a:solidFill>
                  <a:srgbClr val="1B2230"/>
                </a:solidFill>
                <a:latin typeface="Calibri" pitchFamily="34" charset="0"/>
                <a:ea typeface="Calibri" pitchFamily="34" charset="-122"/>
                <a:cs typeface="Calibri" pitchFamily="34" charset="-120"/>
              </a:rPr>
              <a:t>1回で動く幅をコード側で最大12に制限した。指示文だけでは守られないため、受け取った値を必ず検算する。</a:t>
            </a:r>
            <a:endParaRPr lang="en-US" sz="1400" dirty="0"/>
          </a:p>
        </p:txBody>
      </p:sp>
      <p:sp>
        <p:nvSpPr>
          <p:cNvPr id="12" name="Text 10"/>
          <p:cNvSpPr txBox="1"/>
          <p:nvPr/>
        </p:nvSpPr>
        <p:spPr>
          <a:xfrm>
            <a:off x="731520" y="5084064"/>
            <a:ext cx="3246120" cy="274320"/>
          </a:xfrm>
          <a:prstGeom prst="rect">
            <a:avLst/>
          </a:prstGeom>
          <a:noFill/>
          <a:ln/>
        </p:spPr>
        <p:txBody>
          <a:bodyPr wrap="square" lIns="0" tIns="0" rIns="0" bIns="0" rtlCol="0" anchor="ctr"/>
          <a:lstStyle/>
          <a:p>
            <a:pPr indent="0" marL="0">
              <a:buNone/>
            </a:pPr>
            <a:r>
              <a:rPr lang="en-US" sz="1200" dirty="0">
                <a:solidFill>
                  <a:srgbClr val="6B7688"/>
                </a:solidFill>
                <a:latin typeface="Calibri" pitchFamily="34" charset="0"/>
                <a:ea typeface="Calibri" pitchFamily="34" charset="-122"/>
                <a:cs typeface="Calibri" pitchFamily="34" charset="-120"/>
              </a:rPr>
              <a:t>修正前</a:t>
            </a:r>
            <a:endParaRPr lang="en-US" sz="1200" dirty="0"/>
          </a:p>
        </p:txBody>
      </p:sp>
      <p:sp>
        <p:nvSpPr>
          <p:cNvPr id="13" name="Text 11"/>
          <p:cNvSpPr txBox="1"/>
          <p:nvPr/>
        </p:nvSpPr>
        <p:spPr>
          <a:xfrm>
            <a:off x="4114800" y="5029200"/>
            <a:ext cx="1463040" cy="365760"/>
          </a:xfrm>
          <a:prstGeom prst="rect">
            <a:avLst/>
          </a:prstGeom>
          <a:noFill/>
          <a:ln/>
        </p:spPr>
        <p:txBody>
          <a:bodyPr wrap="square" lIns="0" tIns="0" rIns="0" bIns="0" rtlCol="0" anchor="ctr"/>
          <a:lstStyle/>
          <a:p>
            <a:pPr algn="r" indent="0" marL="0">
              <a:buNone/>
            </a:pPr>
            <a:r>
              <a:rPr lang="en-US" sz="2000" b="1" dirty="0">
                <a:solidFill>
                  <a:srgbClr val="C4402A"/>
                </a:solidFill>
                <a:latin typeface="Courier New" pitchFamily="34" charset="0"/>
                <a:ea typeface="Courier New" pitchFamily="34" charset="-122"/>
                <a:cs typeface="Courier New" pitchFamily="34" charset="-120"/>
              </a:rPr>
              <a:t>3 ラリー</a:t>
            </a:r>
            <a:endParaRPr lang="en-US" sz="2000" dirty="0"/>
          </a:p>
        </p:txBody>
      </p:sp>
      <p:sp>
        <p:nvSpPr>
          <p:cNvPr id="14" name="Shape 12"/>
          <p:cNvSpPr/>
          <p:nvPr/>
        </p:nvSpPr>
        <p:spPr>
          <a:xfrm>
            <a:off x="731520" y="5394960"/>
            <a:ext cx="4846320" cy="201168"/>
          </a:xfrm>
          <a:prstGeom prst="rect">
            <a:avLst/>
          </a:prstGeom>
          <a:solidFill>
            <a:srgbClr val="F0F2F6"/>
          </a:solidFill>
          <a:ln/>
        </p:spPr>
      </p:sp>
      <p:sp>
        <p:nvSpPr>
          <p:cNvPr id="15" name="Shape 13"/>
          <p:cNvSpPr/>
          <p:nvPr/>
        </p:nvSpPr>
        <p:spPr>
          <a:xfrm>
            <a:off x="731520" y="5394960"/>
            <a:ext cx="1211580" cy="201168"/>
          </a:xfrm>
          <a:prstGeom prst="rect">
            <a:avLst/>
          </a:prstGeom>
          <a:solidFill>
            <a:srgbClr val="C4402A"/>
          </a:solidFill>
          <a:ln/>
        </p:spPr>
      </p:sp>
      <p:sp>
        <p:nvSpPr>
          <p:cNvPr id="16" name="Text 14"/>
          <p:cNvSpPr txBox="1"/>
          <p:nvPr/>
        </p:nvSpPr>
        <p:spPr>
          <a:xfrm>
            <a:off x="6675120" y="5084064"/>
            <a:ext cx="3246120" cy="274320"/>
          </a:xfrm>
          <a:prstGeom prst="rect">
            <a:avLst/>
          </a:prstGeom>
          <a:noFill/>
          <a:ln/>
        </p:spPr>
        <p:txBody>
          <a:bodyPr wrap="square" lIns="0" tIns="0" rIns="0" bIns="0" rtlCol="0" anchor="ctr"/>
          <a:lstStyle/>
          <a:p>
            <a:pPr indent="0" marL="0">
              <a:buNone/>
            </a:pPr>
            <a:r>
              <a:rPr lang="en-US" sz="1200" dirty="0">
                <a:solidFill>
                  <a:srgbClr val="6B7688"/>
                </a:solidFill>
                <a:latin typeface="Calibri" pitchFamily="34" charset="0"/>
                <a:ea typeface="Calibri" pitchFamily="34" charset="-122"/>
                <a:cs typeface="Calibri" pitchFamily="34" charset="-120"/>
              </a:rPr>
              <a:t>修正後</a:t>
            </a:r>
            <a:endParaRPr lang="en-US" sz="1200" dirty="0"/>
          </a:p>
        </p:txBody>
      </p:sp>
      <p:sp>
        <p:nvSpPr>
          <p:cNvPr id="17" name="Text 15"/>
          <p:cNvSpPr txBox="1"/>
          <p:nvPr/>
        </p:nvSpPr>
        <p:spPr>
          <a:xfrm>
            <a:off x="10058400" y="5029200"/>
            <a:ext cx="1463040" cy="365760"/>
          </a:xfrm>
          <a:prstGeom prst="rect">
            <a:avLst/>
          </a:prstGeom>
          <a:noFill/>
          <a:ln/>
        </p:spPr>
        <p:txBody>
          <a:bodyPr wrap="square" lIns="0" tIns="0" rIns="0" bIns="0" rtlCol="0" anchor="ctr"/>
          <a:lstStyle/>
          <a:p>
            <a:pPr algn="r" indent="0" marL="0">
              <a:buNone/>
            </a:pPr>
            <a:r>
              <a:rPr lang="en-US" sz="2000" b="1" dirty="0">
                <a:solidFill>
                  <a:srgbClr val="1F7A56"/>
                </a:solidFill>
                <a:latin typeface="Courier New" pitchFamily="34" charset="0"/>
                <a:ea typeface="Courier New" pitchFamily="34" charset="-122"/>
                <a:cs typeface="Courier New" pitchFamily="34" charset="-120"/>
              </a:rPr>
              <a:t>7 ラリー</a:t>
            </a:r>
            <a:endParaRPr lang="en-US" sz="2000" dirty="0"/>
          </a:p>
        </p:txBody>
      </p:sp>
      <p:sp>
        <p:nvSpPr>
          <p:cNvPr id="18" name="Shape 16"/>
          <p:cNvSpPr/>
          <p:nvPr/>
        </p:nvSpPr>
        <p:spPr>
          <a:xfrm>
            <a:off x="6675120" y="5394960"/>
            <a:ext cx="4846320" cy="201168"/>
          </a:xfrm>
          <a:prstGeom prst="rect">
            <a:avLst/>
          </a:prstGeom>
          <a:solidFill>
            <a:srgbClr val="F0F2F6"/>
          </a:solidFill>
          <a:ln/>
        </p:spPr>
      </p:sp>
      <p:sp>
        <p:nvSpPr>
          <p:cNvPr id="19" name="Shape 17"/>
          <p:cNvSpPr/>
          <p:nvPr/>
        </p:nvSpPr>
        <p:spPr>
          <a:xfrm>
            <a:off x="6675120" y="5394960"/>
            <a:ext cx="2810866" cy="201168"/>
          </a:xfrm>
          <a:prstGeom prst="rect">
            <a:avLst/>
          </a:prstGeom>
          <a:solidFill>
            <a:srgbClr val="1F7A56"/>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230"/>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どの一言が効いたかを残す</a:t>
            </a:r>
            <a:endParaRPr lang="en-US" sz="3600" dirty="0"/>
          </a:p>
        </p:txBody>
      </p:sp>
      <p:sp>
        <p:nvSpPr>
          <p:cNvPr id="3" name="Text 1"/>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500" dirty="0">
                <a:solidFill>
                  <a:srgbClr val="6B7688"/>
                </a:solidFill>
                <a:latin typeface="Calibri" pitchFamily="34" charset="0"/>
                <a:ea typeface="Calibri" pitchFamily="34" charset="-122"/>
                <a:cs typeface="Calibri" pitchFamily="34" charset="-120"/>
              </a:rPr>
              <a:t>会話を並べ直すだけでは、次に何を直せばよいか分からない</a:t>
            </a:r>
            <a:endParaRPr lang="en-US" sz="1500" dirty="0"/>
          </a:p>
        </p:txBody>
      </p:sp>
      <p:pic>
        <p:nvPicPr>
          <p:cNvPr id="4" name="Image 0" descr="closed_crop.png">    </p:cNvPr>
          <p:cNvPicPr>
            <a:picLocks noChangeAspect="1"/>
          </p:cNvPicPr>
          <p:nvPr/>
        </p:nvPicPr>
        <p:blipFill>
          <a:blip r:embed="rId1"/>
          <a:stretch>
            <a:fillRect/>
          </a:stretch>
        </p:blipFill>
        <p:spPr>
          <a:xfrm>
            <a:off x="640080" y="1874520"/>
            <a:ext cx="3886200" cy="4480560"/>
          </a:xfrm>
          <a:prstGeom prst="rect">
            <a:avLst/>
          </a:prstGeom>
        </p:spPr>
      </p:pic>
      <p:sp>
        <p:nvSpPr>
          <p:cNvPr id="5" name="Shape 2"/>
          <p:cNvSpPr/>
          <p:nvPr/>
        </p:nvSpPr>
        <p:spPr>
          <a:xfrm>
            <a:off x="5486400" y="2286000"/>
            <a:ext cx="6035040" cy="1005840"/>
          </a:xfrm>
          <a:prstGeom prst="roundRect">
            <a:avLst>
              <a:gd name="adj" fmla="val 4545"/>
            </a:avLst>
          </a:prstGeom>
          <a:solidFill>
            <a:srgbClr val="2A3446"/>
          </a:solidFill>
          <a:ln/>
        </p:spPr>
      </p:sp>
      <p:sp>
        <p:nvSpPr>
          <p:cNvPr id="6" name="Text 3"/>
          <p:cNvSpPr txBox="1"/>
          <p:nvPr/>
        </p:nvSpPr>
        <p:spPr>
          <a:xfrm>
            <a:off x="5715000" y="2450592"/>
            <a:ext cx="868680" cy="365760"/>
          </a:xfrm>
          <a:prstGeom prst="rect">
            <a:avLst/>
          </a:prstGeom>
          <a:noFill/>
          <a:ln/>
        </p:spPr>
        <p:txBody>
          <a:bodyPr wrap="square" lIns="0" tIns="0" rIns="0" bIns="0" rtlCol="0" anchor="ctr"/>
          <a:lstStyle/>
          <a:p>
            <a:pPr algn="r" indent="0" marL="0">
              <a:buNone/>
            </a:pPr>
            <a:r>
              <a:rPr lang="en-US" sz="1900" b="1" dirty="0">
                <a:solidFill>
                  <a:srgbClr val="1F7A56"/>
                </a:solidFill>
                <a:latin typeface="Courier New" pitchFamily="34" charset="0"/>
                <a:ea typeface="Courier New" pitchFamily="34" charset="-122"/>
                <a:cs typeface="Courier New" pitchFamily="34" charset="-120"/>
              </a:rPr>
              <a:t>-12</a:t>
            </a:r>
            <a:endParaRPr lang="en-US" sz="1900" dirty="0"/>
          </a:p>
        </p:txBody>
      </p:sp>
      <p:sp>
        <p:nvSpPr>
          <p:cNvPr id="7" name="Text 4"/>
          <p:cNvSpPr txBox="1"/>
          <p:nvPr/>
        </p:nvSpPr>
        <p:spPr>
          <a:xfrm>
            <a:off x="6720840" y="2404872"/>
            <a:ext cx="4663440" cy="457200"/>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誠に申し訳ございません。すぐに新品と交換いたします。</a:t>
            </a:r>
            <a:endParaRPr lang="en-US" sz="1300" dirty="0"/>
          </a:p>
        </p:txBody>
      </p:sp>
      <p:sp>
        <p:nvSpPr>
          <p:cNvPr id="8" name="Shape 5"/>
          <p:cNvSpPr/>
          <p:nvPr/>
        </p:nvSpPr>
        <p:spPr>
          <a:xfrm>
            <a:off x="6720840" y="2907792"/>
            <a:ext cx="2011680" cy="256032"/>
          </a:xfrm>
          <a:prstGeom prst="roundRect">
            <a:avLst>
              <a:gd name="adj" fmla="val 17857"/>
            </a:avLst>
          </a:prstGeom>
          <a:solidFill>
            <a:srgbClr val="1F7A56"/>
          </a:solidFill>
          <a:ln/>
        </p:spPr>
      </p:sp>
      <p:sp>
        <p:nvSpPr>
          <p:cNvPr id="9" name="Text 6"/>
          <p:cNvSpPr txBox="1"/>
          <p:nvPr/>
        </p:nvSpPr>
        <p:spPr>
          <a:xfrm>
            <a:off x="6720840" y="2907792"/>
            <a:ext cx="2011680" cy="256032"/>
          </a:xfrm>
          <a:prstGeom prst="rect">
            <a:avLst/>
          </a:prstGeom>
          <a:noFill/>
          <a:ln/>
        </p:spPr>
        <p:txBody>
          <a:bodyPr wrap="square" lIns="0" tIns="0" rIns="0" bIns="0" rtlCol="0" anchor="ctr"/>
          <a:lstStyle/>
          <a:p>
            <a:pPr algn="ctr" indent="0" marL="0">
              <a:buNone/>
            </a:pPr>
            <a:r>
              <a:rPr lang="en-US" sz="1000" b="1" dirty="0">
                <a:solidFill>
                  <a:srgbClr val="1B2230"/>
                </a:solidFill>
                <a:latin typeface="Calibri" pitchFamily="34" charset="0"/>
                <a:ea typeface="Calibri" pitchFamily="34" charset="-122"/>
                <a:cs typeface="Calibri" pitchFamily="34" charset="-120"/>
              </a:rPr>
              <a:t>いちばん効いた一言</a:t>
            </a:r>
            <a:endParaRPr lang="en-US" sz="1000" dirty="0"/>
          </a:p>
        </p:txBody>
      </p:sp>
      <p:sp>
        <p:nvSpPr>
          <p:cNvPr id="10" name="Shape 7"/>
          <p:cNvSpPr/>
          <p:nvPr/>
        </p:nvSpPr>
        <p:spPr>
          <a:xfrm>
            <a:off x="5486400" y="3520440"/>
            <a:ext cx="6035040" cy="1005840"/>
          </a:xfrm>
          <a:prstGeom prst="roundRect">
            <a:avLst>
              <a:gd name="adj" fmla="val 4545"/>
            </a:avLst>
          </a:prstGeom>
          <a:solidFill>
            <a:srgbClr val="2A3446"/>
          </a:solidFill>
          <a:ln/>
        </p:spPr>
      </p:sp>
      <p:sp>
        <p:nvSpPr>
          <p:cNvPr id="11" name="Text 8"/>
          <p:cNvSpPr txBox="1"/>
          <p:nvPr/>
        </p:nvSpPr>
        <p:spPr>
          <a:xfrm>
            <a:off x="5715000" y="3685032"/>
            <a:ext cx="868680" cy="365760"/>
          </a:xfrm>
          <a:prstGeom prst="rect">
            <a:avLst/>
          </a:prstGeom>
          <a:noFill/>
          <a:ln/>
        </p:spPr>
        <p:txBody>
          <a:bodyPr wrap="square" lIns="0" tIns="0" rIns="0" bIns="0" rtlCol="0" anchor="ctr"/>
          <a:lstStyle/>
          <a:p>
            <a:pPr algn="r" indent="0" marL="0">
              <a:buNone/>
            </a:pPr>
            <a:r>
              <a:rPr lang="en-US" sz="1900" b="1" dirty="0">
                <a:solidFill>
                  <a:srgbClr val="C4402A"/>
                </a:solidFill>
                <a:latin typeface="Courier New" pitchFamily="34" charset="0"/>
                <a:ea typeface="Courier New" pitchFamily="34" charset="-122"/>
                <a:cs typeface="Courier New" pitchFamily="34" charset="-120"/>
              </a:rPr>
              <a:t>+7</a:t>
            </a:r>
            <a:endParaRPr lang="en-US" sz="1900" dirty="0"/>
          </a:p>
        </p:txBody>
      </p:sp>
      <p:sp>
        <p:nvSpPr>
          <p:cNvPr id="12" name="Text 9"/>
          <p:cNvSpPr txBox="1"/>
          <p:nvPr/>
        </p:nvSpPr>
        <p:spPr>
          <a:xfrm>
            <a:off x="6720840" y="3639312"/>
            <a:ext cx="4663440" cy="457200"/>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規約上、お客様の使い方の問題は責任を負いかねます。</a:t>
            </a:r>
            <a:endParaRPr lang="en-US" sz="1300" dirty="0"/>
          </a:p>
        </p:txBody>
      </p:sp>
      <p:sp>
        <p:nvSpPr>
          <p:cNvPr id="13" name="Shape 10"/>
          <p:cNvSpPr/>
          <p:nvPr/>
        </p:nvSpPr>
        <p:spPr>
          <a:xfrm>
            <a:off x="6720840" y="4142232"/>
            <a:ext cx="2011680" cy="256032"/>
          </a:xfrm>
          <a:prstGeom prst="roundRect">
            <a:avLst>
              <a:gd name="adj" fmla="val 17857"/>
            </a:avLst>
          </a:prstGeom>
          <a:solidFill>
            <a:srgbClr val="C4402A"/>
          </a:solidFill>
          <a:ln/>
        </p:spPr>
      </p:sp>
      <p:sp>
        <p:nvSpPr>
          <p:cNvPr id="14" name="Text 11"/>
          <p:cNvSpPr txBox="1"/>
          <p:nvPr/>
        </p:nvSpPr>
        <p:spPr>
          <a:xfrm>
            <a:off x="6720840" y="4142232"/>
            <a:ext cx="2011680" cy="256032"/>
          </a:xfrm>
          <a:prstGeom prst="rect">
            <a:avLst/>
          </a:prstGeom>
          <a:noFill/>
          <a:ln/>
        </p:spPr>
        <p:txBody>
          <a:bodyPr wrap="square" lIns="0" tIns="0" rIns="0" bIns="0" rtlCol="0" anchor="ctr"/>
          <a:lstStyle/>
          <a:p>
            <a:pPr algn="ctr" indent="0" marL="0">
              <a:buNone/>
            </a:pPr>
            <a:r>
              <a:rPr lang="en-US" sz="1000" b="1" dirty="0">
                <a:solidFill>
                  <a:srgbClr val="1B2230"/>
                </a:solidFill>
                <a:latin typeface="Calibri" pitchFamily="34" charset="0"/>
                <a:ea typeface="Calibri" pitchFamily="34" charset="-122"/>
                <a:cs typeface="Calibri" pitchFamily="34" charset="-120"/>
              </a:rPr>
              <a:t>いちばん怒らせた一言</a:t>
            </a:r>
            <a:endParaRPr lang="en-US" sz="1000" dirty="0"/>
          </a:p>
        </p:txBody>
      </p:sp>
      <p:sp>
        <p:nvSpPr>
          <p:cNvPr id="15" name="Shape 12"/>
          <p:cNvSpPr/>
          <p:nvPr/>
        </p:nvSpPr>
        <p:spPr>
          <a:xfrm>
            <a:off x="5486400" y="4754880"/>
            <a:ext cx="6035040" cy="1005840"/>
          </a:xfrm>
          <a:prstGeom prst="roundRect">
            <a:avLst>
              <a:gd name="adj" fmla="val 4545"/>
            </a:avLst>
          </a:prstGeom>
          <a:solidFill>
            <a:srgbClr val="2A3446"/>
          </a:solidFill>
          <a:ln/>
        </p:spPr>
      </p:sp>
      <p:sp>
        <p:nvSpPr>
          <p:cNvPr id="16" name="Text 13"/>
          <p:cNvSpPr txBox="1"/>
          <p:nvPr/>
        </p:nvSpPr>
        <p:spPr>
          <a:xfrm>
            <a:off x="5715000" y="4919472"/>
            <a:ext cx="868680" cy="365760"/>
          </a:xfrm>
          <a:prstGeom prst="rect">
            <a:avLst/>
          </a:prstGeom>
          <a:noFill/>
          <a:ln/>
        </p:spPr>
        <p:txBody>
          <a:bodyPr wrap="square" lIns="0" tIns="0" rIns="0" bIns="0" rtlCol="0" anchor="ctr"/>
          <a:lstStyle/>
          <a:p>
            <a:pPr algn="r" indent="0" marL="0">
              <a:buNone/>
            </a:pPr>
            <a:r>
              <a:rPr lang="en-US" sz="1900" b="1" dirty="0">
                <a:solidFill>
                  <a:srgbClr val="1F7A56"/>
                </a:solidFill>
                <a:latin typeface="Courier New" pitchFamily="34" charset="0"/>
                <a:ea typeface="Courier New" pitchFamily="34" charset="-122"/>
                <a:cs typeface="Courier New" pitchFamily="34" charset="-120"/>
              </a:rPr>
              <a:t>-63</a:t>
            </a:r>
            <a:endParaRPr lang="en-US" sz="1900" dirty="0"/>
          </a:p>
        </p:txBody>
      </p:sp>
      <p:sp>
        <p:nvSpPr>
          <p:cNvPr id="17" name="Text 14"/>
          <p:cNvSpPr txBox="1"/>
          <p:nvPr/>
        </p:nvSpPr>
        <p:spPr>
          <a:xfrm>
            <a:off x="6720840" y="4873752"/>
            <a:ext cx="4663440" cy="457200"/>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先ほどは失礼いたしました。本日中に代替品を発送します。</a:t>
            </a:r>
            <a:endParaRPr lang="en-US" sz="1300" dirty="0"/>
          </a:p>
        </p:txBody>
      </p:sp>
      <p:sp>
        <p:nvSpPr>
          <p:cNvPr id="18" name="Text 15"/>
          <p:cNvSpPr txBox="1"/>
          <p:nvPr/>
        </p:nvSpPr>
        <p:spPr>
          <a:xfrm>
            <a:off x="5486400" y="6126480"/>
            <a:ext cx="6035040" cy="457200"/>
          </a:xfrm>
          <a:prstGeom prst="rect">
            <a:avLst/>
          </a:prstGeom>
          <a:noFill/>
          <a:ln/>
        </p:spPr>
        <p:txBody>
          <a:bodyPr wrap="square" lIns="0" tIns="0" rIns="0" bIns="0" rtlCol="0" anchor="ctr"/>
          <a:lstStyle/>
          <a:p>
            <a:pPr indent="0" marL="0">
              <a:lnSpc>
                <a:spcPts val="1800"/>
              </a:lnSpc>
              <a:buNone/>
            </a:pPr>
            <a:r>
              <a:rPr lang="en-US" sz="1300" dirty="0">
                <a:solidFill>
                  <a:srgbClr val="B57B12"/>
                </a:solidFill>
                <a:latin typeface="Calibri" pitchFamily="34" charset="0"/>
                <a:ea typeface="Calibri" pitchFamily="34" charset="-122"/>
                <a:cs typeface="Calibri" pitchFamily="34" charset="-120"/>
              </a:rPr>
              <a:t>「規約上」という一言が +7 だったと分かれば、次に避けるべきものが具体的になる</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D"/>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1B2230"/>
                </a:solidFill>
                <a:latin typeface="Cambria" pitchFamily="34" charset="0"/>
                <a:ea typeface="Cambria" pitchFamily="34" charset="-122"/>
                <a:cs typeface="Cambria" pitchFamily="34" charset="-120"/>
              </a:rPr>
              <a:t>一人でも、チーム開発の作法で進めた</a:t>
            </a:r>
            <a:endParaRPr lang="en-US" sz="3600" dirty="0"/>
          </a:p>
        </p:txBody>
      </p:sp>
      <p:sp>
        <p:nvSpPr>
          <p:cNvPr id="3" name="Text 1"/>
          <p:cNvSpPr txBox="1"/>
          <p:nvPr/>
        </p:nvSpPr>
        <p:spPr>
          <a:xfrm>
            <a:off x="640080" y="1207008"/>
            <a:ext cx="10881360" cy="365760"/>
          </a:xfrm>
          <a:prstGeom prst="rect">
            <a:avLst/>
          </a:prstGeom>
          <a:noFill/>
          <a:ln/>
        </p:spPr>
        <p:txBody>
          <a:bodyPr wrap="square" lIns="0" tIns="0" rIns="0" bIns="0" rtlCol="0" anchor="ctr"/>
          <a:lstStyle/>
          <a:p>
            <a:pPr indent="0" marL="0">
              <a:buNone/>
            </a:pPr>
            <a:r>
              <a:rPr lang="en-US" sz="1500" dirty="0">
                <a:solidFill>
                  <a:srgbClr val="6B7688"/>
                </a:solidFill>
                <a:latin typeface="Calibri" pitchFamily="34" charset="0"/>
                <a:ea typeface="Calibri" pitchFamily="34" charset="-122"/>
                <a:cs typeface="Calibri" pitchFamily="34" charset="-120"/>
              </a:rPr>
              <a:t>評価対象であるコミット履歴を、意味のある単位で残す</a:t>
            </a:r>
            <a:endParaRPr lang="en-US" sz="1500" dirty="0"/>
          </a:p>
        </p:txBody>
      </p:sp>
      <p:sp>
        <p:nvSpPr>
          <p:cNvPr id="4" name="Shape 2"/>
          <p:cNvSpPr/>
          <p:nvPr/>
        </p:nvSpPr>
        <p:spPr>
          <a:xfrm>
            <a:off x="731520" y="2103120"/>
            <a:ext cx="2560320" cy="1600200"/>
          </a:xfrm>
          <a:prstGeom prst="roundRect">
            <a:avLst>
              <a:gd name="adj" fmla="val 3429"/>
            </a:avLst>
          </a:prstGeom>
          <a:solidFill>
            <a:srgbClr val="1B2230"/>
          </a:solidFill>
          <a:ln/>
        </p:spPr>
      </p:sp>
      <p:sp>
        <p:nvSpPr>
          <p:cNvPr id="5" name="Text 3"/>
          <p:cNvSpPr txBox="1"/>
          <p:nvPr/>
        </p:nvSpPr>
        <p:spPr>
          <a:xfrm>
            <a:off x="914400" y="2212848"/>
            <a:ext cx="2194560"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ourier New" pitchFamily="34" charset="0"/>
                <a:ea typeface="Courier New" pitchFamily="34" charset="-122"/>
                <a:cs typeface="Courier New" pitchFamily="34" charset="-120"/>
              </a:rPr>
              <a:t>13</a:t>
            </a:r>
            <a:endParaRPr lang="en-US" sz="4400" dirty="0"/>
          </a:p>
        </p:txBody>
      </p:sp>
      <p:sp>
        <p:nvSpPr>
          <p:cNvPr id="6" name="Text 4"/>
          <p:cNvSpPr txBox="1"/>
          <p:nvPr/>
        </p:nvSpPr>
        <p:spPr>
          <a:xfrm>
            <a:off x="868680" y="3182112"/>
            <a:ext cx="2286000" cy="365760"/>
          </a:xfrm>
          <a:prstGeom prst="rect">
            <a:avLst/>
          </a:prstGeom>
          <a:noFill/>
          <a:ln/>
        </p:spPr>
        <p:txBody>
          <a:bodyPr wrap="square" lIns="0" tIns="0" rIns="0" bIns="0" rtlCol="0" anchor="ctr"/>
          <a:lstStyle/>
          <a:p>
            <a:pPr algn="ctr" indent="0" marL="0">
              <a:buNone/>
            </a:pPr>
            <a:r>
              <a:rPr lang="en-US" sz="1200" dirty="0">
                <a:solidFill>
                  <a:srgbClr val="6B7688"/>
                </a:solidFill>
                <a:latin typeface="Calibri" pitchFamily="34" charset="0"/>
                <a:ea typeface="Calibri" pitchFamily="34" charset="-122"/>
                <a:cs typeface="Calibri" pitchFamily="34" charset="-120"/>
              </a:rPr>
              <a:t>コミット</a:t>
            </a:r>
            <a:endParaRPr lang="en-US" sz="1200" dirty="0"/>
          </a:p>
        </p:txBody>
      </p:sp>
      <p:sp>
        <p:nvSpPr>
          <p:cNvPr id="7" name="Shape 5"/>
          <p:cNvSpPr/>
          <p:nvPr/>
        </p:nvSpPr>
        <p:spPr>
          <a:xfrm>
            <a:off x="3520440" y="2103120"/>
            <a:ext cx="2560320" cy="1600200"/>
          </a:xfrm>
          <a:prstGeom prst="roundRect">
            <a:avLst>
              <a:gd name="adj" fmla="val 3429"/>
            </a:avLst>
          </a:prstGeom>
          <a:solidFill>
            <a:srgbClr val="1B2230"/>
          </a:solidFill>
          <a:ln/>
        </p:spPr>
      </p:sp>
      <p:sp>
        <p:nvSpPr>
          <p:cNvPr id="8" name="Text 6"/>
          <p:cNvSpPr txBox="1"/>
          <p:nvPr/>
        </p:nvSpPr>
        <p:spPr>
          <a:xfrm>
            <a:off x="3703320" y="2212848"/>
            <a:ext cx="2194560"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ourier New" pitchFamily="34" charset="0"/>
                <a:ea typeface="Courier New" pitchFamily="34" charset="-122"/>
                <a:cs typeface="Courier New" pitchFamily="34" charset="-120"/>
              </a:rPr>
              <a:t>3</a:t>
            </a:r>
            <a:endParaRPr lang="en-US" sz="4400" dirty="0"/>
          </a:p>
        </p:txBody>
      </p:sp>
      <p:sp>
        <p:nvSpPr>
          <p:cNvPr id="9" name="Text 7"/>
          <p:cNvSpPr txBox="1"/>
          <p:nvPr/>
        </p:nvSpPr>
        <p:spPr>
          <a:xfrm>
            <a:off x="3657600" y="3182112"/>
            <a:ext cx="2286000" cy="365760"/>
          </a:xfrm>
          <a:prstGeom prst="rect">
            <a:avLst/>
          </a:prstGeom>
          <a:noFill/>
          <a:ln/>
        </p:spPr>
        <p:txBody>
          <a:bodyPr wrap="square" lIns="0" tIns="0" rIns="0" bIns="0" rtlCol="0" anchor="ctr"/>
          <a:lstStyle/>
          <a:p>
            <a:pPr algn="ctr" indent="0" marL="0">
              <a:buNone/>
            </a:pPr>
            <a:r>
              <a:rPr lang="en-US" sz="1200" dirty="0">
                <a:solidFill>
                  <a:srgbClr val="6B7688"/>
                </a:solidFill>
                <a:latin typeface="Calibri" pitchFamily="34" charset="0"/>
                <a:ea typeface="Calibri" pitchFamily="34" charset="-122"/>
                <a:cs typeface="Calibri" pitchFamily="34" charset="-120"/>
              </a:rPr>
              <a:t>Pull Request</a:t>
            </a:r>
            <a:endParaRPr lang="en-US" sz="1200" dirty="0"/>
          </a:p>
        </p:txBody>
      </p:sp>
      <p:sp>
        <p:nvSpPr>
          <p:cNvPr id="10" name="Shape 8"/>
          <p:cNvSpPr/>
          <p:nvPr/>
        </p:nvSpPr>
        <p:spPr>
          <a:xfrm>
            <a:off x="6309360" y="2103120"/>
            <a:ext cx="2560320" cy="1600200"/>
          </a:xfrm>
          <a:prstGeom prst="roundRect">
            <a:avLst>
              <a:gd name="adj" fmla="val 3429"/>
            </a:avLst>
          </a:prstGeom>
          <a:solidFill>
            <a:srgbClr val="1B2230"/>
          </a:solidFill>
          <a:ln/>
        </p:spPr>
      </p:sp>
      <p:sp>
        <p:nvSpPr>
          <p:cNvPr id="11" name="Text 9"/>
          <p:cNvSpPr txBox="1"/>
          <p:nvPr/>
        </p:nvSpPr>
        <p:spPr>
          <a:xfrm>
            <a:off x="6492240" y="2212848"/>
            <a:ext cx="2194560"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ourier New" pitchFamily="34" charset="0"/>
                <a:ea typeface="Courier New" pitchFamily="34" charset="-122"/>
                <a:cs typeface="Courier New" pitchFamily="34" charset="-120"/>
              </a:rPr>
              <a:t>40</a:t>
            </a:r>
            <a:endParaRPr lang="en-US" sz="4400" dirty="0"/>
          </a:p>
        </p:txBody>
      </p:sp>
      <p:sp>
        <p:nvSpPr>
          <p:cNvPr id="12" name="Text 10"/>
          <p:cNvSpPr txBox="1"/>
          <p:nvPr/>
        </p:nvSpPr>
        <p:spPr>
          <a:xfrm>
            <a:off x="6446520" y="3182112"/>
            <a:ext cx="2286000" cy="365760"/>
          </a:xfrm>
          <a:prstGeom prst="rect">
            <a:avLst/>
          </a:prstGeom>
          <a:noFill/>
          <a:ln/>
        </p:spPr>
        <p:txBody>
          <a:bodyPr wrap="square" lIns="0" tIns="0" rIns="0" bIns="0" rtlCol="0" anchor="ctr"/>
          <a:lstStyle/>
          <a:p>
            <a:pPr algn="ctr" indent="0" marL="0">
              <a:buNone/>
            </a:pPr>
            <a:r>
              <a:rPr lang="en-US" sz="1200" dirty="0">
                <a:solidFill>
                  <a:srgbClr val="6B7688"/>
                </a:solidFill>
                <a:latin typeface="Calibri" pitchFamily="34" charset="0"/>
                <a:ea typeface="Calibri" pitchFamily="34" charset="-122"/>
                <a:cs typeface="Calibri" pitchFamily="34" charset="-120"/>
              </a:rPr>
              <a:t>テスト項目</a:t>
            </a:r>
            <a:endParaRPr lang="en-US" sz="1200" dirty="0"/>
          </a:p>
        </p:txBody>
      </p:sp>
      <p:sp>
        <p:nvSpPr>
          <p:cNvPr id="13" name="Shape 11"/>
          <p:cNvSpPr/>
          <p:nvPr/>
        </p:nvSpPr>
        <p:spPr>
          <a:xfrm>
            <a:off x="9098280" y="2103120"/>
            <a:ext cx="2560320" cy="1600200"/>
          </a:xfrm>
          <a:prstGeom prst="roundRect">
            <a:avLst>
              <a:gd name="adj" fmla="val 3429"/>
            </a:avLst>
          </a:prstGeom>
          <a:solidFill>
            <a:srgbClr val="1B2230"/>
          </a:solidFill>
          <a:ln/>
        </p:spPr>
      </p:sp>
      <p:sp>
        <p:nvSpPr>
          <p:cNvPr id="14" name="Text 12"/>
          <p:cNvSpPr txBox="1"/>
          <p:nvPr/>
        </p:nvSpPr>
        <p:spPr>
          <a:xfrm>
            <a:off x="9281160" y="2212848"/>
            <a:ext cx="2194560"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ourier New" pitchFamily="34" charset="0"/>
                <a:ea typeface="Courier New" pitchFamily="34" charset="-122"/>
                <a:cs typeface="Courier New" pitchFamily="34" charset="-120"/>
              </a:rPr>
              <a:t>7</a:t>
            </a:r>
            <a:endParaRPr lang="en-US" sz="4400" dirty="0"/>
          </a:p>
        </p:txBody>
      </p:sp>
      <p:sp>
        <p:nvSpPr>
          <p:cNvPr id="15" name="Text 13"/>
          <p:cNvSpPr txBox="1"/>
          <p:nvPr/>
        </p:nvSpPr>
        <p:spPr>
          <a:xfrm>
            <a:off x="9235440" y="3182112"/>
            <a:ext cx="2286000" cy="365760"/>
          </a:xfrm>
          <a:prstGeom prst="rect">
            <a:avLst/>
          </a:prstGeom>
          <a:noFill/>
          <a:ln/>
        </p:spPr>
        <p:txBody>
          <a:bodyPr wrap="square" lIns="0" tIns="0" rIns="0" bIns="0" rtlCol="0" anchor="ctr"/>
          <a:lstStyle/>
          <a:p>
            <a:pPr algn="ctr" indent="0" marL="0">
              <a:buNone/>
            </a:pPr>
            <a:r>
              <a:rPr lang="en-US" sz="1200" dirty="0">
                <a:solidFill>
                  <a:srgbClr val="6B7688"/>
                </a:solidFill>
                <a:latin typeface="Calibri" pitchFamily="34" charset="0"/>
                <a:ea typeface="Calibri" pitchFamily="34" charset="-122"/>
                <a:cs typeface="Calibri" pitchFamily="34" charset="-120"/>
              </a:rPr>
              <a:t>機能要件すべて完了</a:t>
            </a:r>
            <a:endParaRPr lang="en-US" sz="1200" dirty="0"/>
          </a:p>
        </p:txBody>
      </p:sp>
      <p:sp>
        <p:nvSpPr>
          <p:cNvPr id="16" name="Shape 14"/>
          <p:cNvSpPr/>
          <p:nvPr/>
        </p:nvSpPr>
        <p:spPr>
          <a:xfrm>
            <a:off x="731520" y="4114800"/>
            <a:ext cx="1965960" cy="777240"/>
          </a:xfrm>
          <a:prstGeom prst="roundRect">
            <a:avLst>
              <a:gd name="adj" fmla="val 5882"/>
            </a:avLst>
          </a:prstGeom>
          <a:solidFill>
            <a:srgbClr val="FFFFFF"/>
          </a:solidFill>
          <a:ln w="12700">
            <a:solidFill>
              <a:srgbClr val="DFE3EA"/>
            </a:solidFill>
            <a:prstDash val="solid"/>
          </a:ln>
        </p:spPr>
      </p:sp>
      <p:sp>
        <p:nvSpPr>
          <p:cNvPr id="17" name="Text 15"/>
          <p:cNvSpPr txBox="1"/>
          <p:nvPr/>
        </p:nvSpPr>
        <p:spPr>
          <a:xfrm>
            <a:off x="841248" y="4224528"/>
            <a:ext cx="1737360" cy="548640"/>
          </a:xfrm>
          <a:prstGeom prst="rect">
            <a:avLst/>
          </a:prstGeom>
          <a:noFill/>
          <a:ln/>
        </p:spPr>
        <p:txBody>
          <a:bodyPr wrap="square" lIns="0" tIns="0" rIns="0" bIns="0" rtlCol="0" anchor="ctr"/>
          <a:lstStyle/>
          <a:p>
            <a:pPr algn="ctr" indent="0" marL="0">
              <a:lnSpc>
                <a:spcPts val="1600"/>
              </a:lnSpc>
              <a:buNone/>
            </a:pPr>
            <a:r>
              <a:rPr lang="en-US" sz="1200" dirty="0">
                <a:solidFill>
                  <a:srgbClr val="1B2230"/>
                </a:solidFill>
                <a:latin typeface="Calibri" pitchFamily="34" charset="0"/>
                <a:ea typeface="Calibri" pitchFamily="34" charset="-122"/>
                <a:cs typeface="Calibri" pitchFamily="34" charset="-120"/>
              </a:rPr>
              <a:t>main から枝分かれ</a:t>
            </a:r>
            <a:endParaRPr lang="en-US" sz="1200" dirty="0"/>
          </a:p>
        </p:txBody>
      </p:sp>
      <p:sp>
        <p:nvSpPr>
          <p:cNvPr id="18" name="Shape 16"/>
          <p:cNvSpPr/>
          <p:nvPr/>
        </p:nvSpPr>
        <p:spPr>
          <a:xfrm>
            <a:off x="2724912" y="4507992"/>
            <a:ext cx="201168" cy="0"/>
          </a:xfrm>
          <a:prstGeom prst="line">
            <a:avLst/>
          </a:prstGeom>
          <a:noFill/>
          <a:ln w="25400">
            <a:solidFill>
              <a:srgbClr val="C4402A"/>
            </a:solidFill>
            <a:prstDash val="solid"/>
            <a:tailEnd type="triangle"/>
          </a:ln>
        </p:spPr>
      </p:sp>
      <p:sp>
        <p:nvSpPr>
          <p:cNvPr id="19" name="Shape 17"/>
          <p:cNvSpPr/>
          <p:nvPr/>
        </p:nvSpPr>
        <p:spPr>
          <a:xfrm>
            <a:off x="2962656" y="4114800"/>
            <a:ext cx="1965960" cy="777240"/>
          </a:xfrm>
          <a:prstGeom prst="roundRect">
            <a:avLst>
              <a:gd name="adj" fmla="val 5882"/>
            </a:avLst>
          </a:prstGeom>
          <a:solidFill>
            <a:srgbClr val="FFFFFF"/>
          </a:solidFill>
          <a:ln w="12700">
            <a:solidFill>
              <a:srgbClr val="DFE3EA"/>
            </a:solidFill>
            <a:prstDash val="solid"/>
          </a:ln>
        </p:spPr>
      </p:sp>
      <p:sp>
        <p:nvSpPr>
          <p:cNvPr id="20" name="Text 18"/>
          <p:cNvSpPr txBox="1"/>
          <p:nvPr/>
        </p:nvSpPr>
        <p:spPr>
          <a:xfrm>
            <a:off x="3072384" y="4224528"/>
            <a:ext cx="1737360" cy="548640"/>
          </a:xfrm>
          <a:prstGeom prst="rect">
            <a:avLst/>
          </a:prstGeom>
          <a:noFill/>
          <a:ln/>
        </p:spPr>
        <p:txBody>
          <a:bodyPr wrap="square" lIns="0" tIns="0" rIns="0" bIns="0" rtlCol="0" anchor="ctr"/>
          <a:lstStyle/>
          <a:p>
            <a:pPr algn="ctr" indent="0" marL="0">
              <a:lnSpc>
                <a:spcPts val="1600"/>
              </a:lnSpc>
              <a:buNone/>
            </a:pPr>
            <a:r>
              <a:rPr lang="en-US" sz="1200" dirty="0">
                <a:solidFill>
                  <a:srgbClr val="1B2230"/>
                </a:solidFill>
                <a:latin typeface="Calibri" pitchFamily="34" charset="0"/>
                <a:ea typeface="Calibri" pitchFamily="34" charset="-122"/>
                <a:cs typeface="Calibri" pitchFamily="34" charset="-120"/>
              </a:rPr>
              <a:t>機能ごとに実装</a:t>
            </a:r>
            <a:endParaRPr lang="en-US" sz="1200" dirty="0"/>
          </a:p>
        </p:txBody>
      </p:sp>
      <p:sp>
        <p:nvSpPr>
          <p:cNvPr id="21" name="Shape 19"/>
          <p:cNvSpPr/>
          <p:nvPr/>
        </p:nvSpPr>
        <p:spPr>
          <a:xfrm>
            <a:off x="4956048" y="4507992"/>
            <a:ext cx="201168" cy="0"/>
          </a:xfrm>
          <a:prstGeom prst="line">
            <a:avLst/>
          </a:prstGeom>
          <a:noFill/>
          <a:ln w="25400">
            <a:solidFill>
              <a:srgbClr val="C4402A"/>
            </a:solidFill>
            <a:prstDash val="solid"/>
            <a:tailEnd type="triangle"/>
          </a:ln>
        </p:spPr>
      </p:sp>
      <p:sp>
        <p:nvSpPr>
          <p:cNvPr id="22" name="Shape 20"/>
          <p:cNvSpPr/>
          <p:nvPr/>
        </p:nvSpPr>
        <p:spPr>
          <a:xfrm>
            <a:off x="5193792" y="4114800"/>
            <a:ext cx="1965960" cy="777240"/>
          </a:xfrm>
          <a:prstGeom prst="roundRect">
            <a:avLst>
              <a:gd name="adj" fmla="val 5882"/>
            </a:avLst>
          </a:prstGeom>
          <a:solidFill>
            <a:srgbClr val="FFFFFF"/>
          </a:solidFill>
          <a:ln w="12700">
            <a:solidFill>
              <a:srgbClr val="DFE3EA"/>
            </a:solidFill>
            <a:prstDash val="solid"/>
          </a:ln>
        </p:spPr>
      </p:sp>
      <p:sp>
        <p:nvSpPr>
          <p:cNvPr id="23" name="Text 21"/>
          <p:cNvSpPr txBox="1"/>
          <p:nvPr/>
        </p:nvSpPr>
        <p:spPr>
          <a:xfrm>
            <a:off x="5303520" y="4224528"/>
            <a:ext cx="1737360" cy="548640"/>
          </a:xfrm>
          <a:prstGeom prst="rect">
            <a:avLst/>
          </a:prstGeom>
          <a:noFill/>
          <a:ln/>
        </p:spPr>
        <p:txBody>
          <a:bodyPr wrap="square" lIns="0" tIns="0" rIns="0" bIns="0" rtlCol="0" anchor="ctr"/>
          <a:lstStyle/>
          <a:p>
            <a:pPr algn="ctr" indent="0" marL="0">
              <a:lnSpc>
                <a:spcPts val="1600"/>
              </a:lnSpc>
              <a:buNone/>
            </a:pPr>
            <a:r>
              <a:rPr lang="en-US" sz="1200" dirty="0">
                <a:solidFill>
                  <a:srgbClr val="1B2230"/>
                </a:solidFill>
                <a:latin typeface="Calibri" pitchFamily="34" charset="0"/>
                <a:ea typeface="Calibri" pitchFamily="34" charset="-122"/>
                <a:cs typeface="Calibri" pitchFamily="34" charset="-120"/>
              </a:rPr>
              <a:t>Pull Request で申請</a:t>
            </a:r>
            <a:endParaRPr lang="en-US" sz="1200" dirty="0"/>
          </a:p>
        </p:txBody>
      </p:sp>
      <p:sp>
        <p:nvSpPr>
          <p:cNvPr id="24" name="Shape 22"/>
          <p:cNvSpPr/>
          <p:nvPr/>
        </p:nvSpPr>
        <p:spPr>
          <a:xfrm>
            <a:off x="7187184" y="4507992"/>
            <a:ext cx="201168" cy="0"/>
          </a:xfrm>
          <a:prstGeom prst="line">
            <a:avLst/>
          </a:prstGeom>
          <a:noFill/>
          <a:ln w="25400">
            <a:solidFill>
              <a:srgbClr val="C4402A"/>
            </a:solidFill>
            <a:prstDash val="solid"/>
            <a:tailEnd type="triangle"/>
          </a:ln>
        </p:spPr>
      </p:sp>
      <p:sp>
        <p:nvSpPr>
          <p:cNvPr id="25" name="Shape 23"/>
          <p:cNvSpPr/>
          <p:nvPr/>
        </p:nvSpPr>
        <p:spPr>
          <a:xfrm>
            <a:off x="7424928" y="4114800"/>
            <a:ext cx="1965960" cy="777240"/>
          </a:xfrm>
          <a:prstGeom prst="roundRect">
            <a:avLst>
              <a:gd name="adj" fmla="val 5882"/>
            </a:avLst>
          </a:prstGeom>
          <a:solidFill>
            <a:srgbClr val="FFFFFF"/>
          </a:solidFill>
          <a:ln w="12700">
            <a:solidFill>
              <a:srgbClr val="DFE3EA"/>
            </a:solidFill>
            <a:prstDash val="solid"/>
          </a:ln>
        </p:spPr>
      </p:sp>
      <p:sp>
        <p:nvSpPr>
          <p:cNvPr id="26" name="Text 24"/>
          <p:cNvSpPr txBox="1"/>
          <p:nvPr/>
        </p:nvSpPr>
        <p:spPr>
          <a:xfrm>
            <a:off x="7534656" y="4224528"/>
            <a:ext cx="1737360" cy="548640"/>
          </a:xfrm>
          <a:prstGeom prst="rect">
            <a:avLst/>
          </a:prstGeom>
          <a:noFill/>
          <a:ln/>
        </p:spPr>
        <p:txBody>
          <a:bodyPr wrap="square" lIns="0" tIns="0" rIns="0" bIns="0" rtlCol="0" anchor="ctr"/>
          <a:lstStyle/>
          <a:p>
            <a:pPr algn="ctr" indent="0" marL="0">
              <a:lnSpc>
                <a:spcPts val="1600"/>
              </a:lnSpc>
              <a:buNone/>
            </a:pPr>
            <a:r>
              <a:rPr lang="en-US" sz="1200" dirty="0">
                <a:solidFill>
                  <a:srgbClr val="1B2230"/>
                </a:solidFill>
                <a:latin typeface="Calibri" pitchFamily="34" charset="0"/>
                <a:ea typeface="Calibri" pitchFamily="34" charset="-122"/>
                <a:cs typeface="Calibri" pitchFamily="34" charset="-120"/>
              </a:rPr>
              <a:t>設計書と突き合わせ</a:t>
            </a:r>
            <a:endParaRPr lang="en-US" sz="1200" dirty="0"/>
          </a:p>
        </p:txBody>
      </p:sp>
      <p:sp>
        <p:nvSpPr>
          <p:cNvPr id="27" name="Shape 25"/>
          <p:cNvSpPr/>
          <p:nvPr/>
        </p:nvSpPr>
        <p:spPr>
          <a:xfrm>
            <a:off x="9418320" y="4507992"/>
            <a:ext cx="201168" cy="0"/>
          </a:xfrm>
          <a:prstGeom prst="line">
            <a:avLst/>
          </a:prstGeom>
          <a:noFill/>
          <a:ln w="25400">
            <a:solidFill>
              <a:srgbClr val="C4402A"/>
            </a:solidFill>
            <a:prstDash val="solid"/>
            <a:tailEnd type="triangle"/>
          </a:ln>
        </p:spPr>
      </p:sp>
      <p:sp>
        <p:nvSpPr>
          <p:cNvPr id="28" name="Shape 26"/>
          <p:cNvSpPr/>
          <p:nvPr/>
        </p:nvSpPr>
        <p:spPr>
          <a:xfrm>
            <a:off x="9656064" y="4114800"/>
            <a:ext cx="1965960" cy="777240"/>
          </a:xfrm>
          <a:prstGeom prst="roundRect">
            <a:avLst>
              <a:gd name="adj" fmla="val 5882"/>
            </a:avLst>
          </a:prstGeom>
          <a:solidFill>
            <a:srgbClr val="FFFFFF"/>
          </a:solidFill>
          <a:ln w="12700">
            <a:solidFill>
              <a:srgbClr val="DFE3EA"/>
            </a:solidFill>
            <a:prstDash val="solid"/>
          </a:ln>
        </p:spPr>
      </p:sp>
      <p:sp>
        <p:nvSpPr>
          <p:cNvPr id="29" name="Text 27"/>
          <p:cNvSpPr txBox="1"/>
          <p:nvPr/>
        </p:nvSpPr>
        <p:spPr>
          <a:xfrm>
            <a:off x="9765792" y="4224528"/>
            <a:ext cx="1737360" cy="548640"/>
          </a:xfrm>
          <a:prstGeom prst="rect">
            <a:avLst/>
          </a:prstGeom>
          <a:noFill/>
          <a:ln/>
        </p:spPr>
        <p:txBody>
          <a:bodyPr wrap="square" lIns="0" tIns="0" rIns="0" bIns="0" rtlCol="0" anchor="ctr"/>
          <a:lstStyle/>
          <a:p>
            <a:pPr algn="ctr" indent="0" marL="0">
              <a:lnSpc>
                <a:spcPts val="1600"/>
              </a:lnSpc>
              <a:buNone/>
            </a:pPr>
            <a:r>
              <a:rPr lang="en-US" sz="1200" dirty="0">
                <a:solidFill>
                  <a:srgbClr val="1B2230"/>
                </a:solidFill>
                <a:latin typeface="Calibri" pitchFamily="34" charset="0"/>
                <a:ea typeface="Calibri" pitchFamily="34" charset="-122"/>
                <a:cs typeface="Calibri" pitchFamily="34" charset="-120"/>
              </a:rPr>
              <a:t>main へ合流</a:t>
            </a:r>
            <a:endParaRPr lang="en-US" sz="1200" dirty="0"/>
          </a:p>
        </p:txBody>
      </p:sp>
      <p:sp>
        <p:nvSpPr>
          <p:cNvPr id="30" name="Text 28"/>
          <p:cNvSpPr txBox="1"/>
          <p:nvPr/>
        </p:nvSpPr>
        <p:spPr>
          <a:xfrm>
            <a:off x="731520" y="5303520"/>
            <a:ext cx="10789920" cy="457200"/>
          </a:xfrm>
          <a:prstGeom prst="rect">
            <a:avLst/>
          </a:prstGeom>
          <a:noFill/>
          <a:ln/>
        </p:spPr>
        <p:txBody>
          <a:bodyPr wrap="square" lIns="0" tIns="0" rIns="0" bIns="0" rtlCol="0" anchor="ctr"/>
          <a:lstStyle/>
          <a:p>
            <a:pPr indent="0" marL="0">
              <a:buNone/>
            </a:pPr>
            <a:r>
              <a:rPr lang="en-US" sz="1400" dirty="0">
                <a:solidFill>
                  <a:srgbClr val="6B7688"/>
                </a:solidFill>
                <a:latin typeface="Calibri" pitchFamily="34" charset="0"/>
                <a:ea typeface="Calibri" pitchFamily="34" charset="-122"/>
                <a:cs typeface="Calibri" pitchFamily="34" charset="-120"/>
              </a:rPr>
              <a:t>一人開発なので自分でレビューして自分でマージすることになるが、意図と検証を記録に残す価値は変わらない</a:t>
            </a:r>
            <a:endParaRPr lang="en-US" sz="1400" dirty="0"/>
          </a:p>
        </p:txBody>
      </p:sp>
      <p:sp>
        <p:nvSpPr>
          <p:cNvPr id="31" name="Text 29"/>
          <p:cNvSpPr txBox="1"/>
          <p:nvPr/>
        </p:nvSpPr>
        <p:spPr>
          <a:xfrm>
            <a:off x="731520" y="5760720"/>
            <a:ext cx="10789920" cy="457200"/>
          </a:xfrm>
          <a:prstGeom prst="rect">
            <a:avLst/>
          </a:prstGeom>
          <a:noFill/>
          <a:ln/>
        </p:spPr>
        <p:txBody>
          <a:bodyPr wrap="square" lIns="0" tIns="0" rIns="0" bIns="0" rtlCol="0" anchor="ctr"/>
          <a:lstStyle/>
          <a:p>
            <a:pPr indent="0" marL="0">
              <a:buNone/>
            </a:pPr>
            <a:r>
              <a:rPr lang="en-US" sz="1400" dirty="0">
                <a:solidFill>
                  <a:srgbClr val="6B7688"/>
                </a:solidFill>
                <a:latin typeface="Calibri" pitchFamily="34" charset="0"/>
                <a:ea typeface="Calibri" pitchFamily="34" charset="-122"/>
                <a:cs typeface="Calibri" pitchFamily="34" charset="-120"/>
              </a:rPr>
              <a:t>設計書と実装がずれないよう、コードを直したら必ず設計書も直した</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230"/>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この10日間で学んだこと</a:t>
            </a:r>
            <a:endParaRPr lang="en-US" sz="3600" dirty="0"/>
          </a:p>
        </p:txBody>
      </p:sp>
      <p:sp>
        <p:nvSpPr>
          <p:cNvPr id="3" name="Shape 1"/>
          <p:cNvSpPr/>
          <p:nvPr/>
        </p:nvSpPr>
        <p:spPr>
          <a:xfrm>
            <a:off x="731520" y="2029968"/>
            <a:ext cx="402336" cy="402336"/>
          </a:xfrm>
          <a:prstGeom prst="ellipse">
            <a:avLst/>
          </a:prstGeom>
          <a:solidFill>
            <a:srgbClr val="C4402A"/>
          </a:solidFill>
          <a:ln/>
        </p:spPr>
      </p:sp>
      <p:sp>
        <p:nvSpPr>
          <p:cNvPr id="4" name="Text 2"/>
          <p:cNvSpPr txBox="1"/>
          <p:nvPr/>
        </p:nvSpPr>
        <p:spPr>
          <a:xfrm>
            <a:off x="731520" y="2029968"/>
            <a:ext cx="402336" cy="402336"/>
          </a:xfrm>
          <a:prstGeom prst="rect">
            <a:avLst/>
          </a:prstGeom>
          <a:noFill/>
          <a:ln/>
        </p:spPr>
        <p:txBody>
          <a:bodyPr wrap="square" lIns="0" tIns="0" rIns="0" bIns="0" rtlCol="0" anchor="ctr"/>
          <a:lstStyle/>
          <a:p>
            <a:pPr algn="ctr" indent="0" marL="0">
              <a:buNone/>
            </a:pPr>
            <a:r>
              <a:rPr lang="en-US" sz="1500" b="1" dirty="0">
                <a:solidFill>
                  <a:srgbClr val="1B2230"/>
                </a:solidFill>
                <a:latin typeface="Courier New" pitchFamily="34" charset="0"/>
                <a:ea typeface="Courier New" pitchFamily="34" charset="-122"/>
                <a:cs typeface="Courier New" pitchFamily="34" charset="-120"/>
              </a:rPr>
              <a:t>1</a:t>
            </a:r>
            <a:endParaRPr lang="en-US" sz="1500" dirty="0"/>
          </a:p>
        </p:txBody>
      </p:sp>
      <p:sp>
        <p:nvSpPr>
          <p:cNvPr id="5" name="Text 3"/>
          <p:cNvSpPr txBox="1"/>
          <p:nvPr/>
        </p:nvSpPr>
        <p:spPr>
          <a:xfrm>
            <a:off x="1417320" y="1920240"/>
            <a:ext cx="10058400" cy="457200"/>
          </a:xfrm>
          <a:prstGeom prst="rect">
            <a:avLst/>
          </a:prstGeom>
          <a:noFill/>
          <a:ln/>
        </p:spPr>
        <p:txBody>
          <a:bodyPr wrap="square" lIns="0" tIns="0" rIns="0" bIns="0" rtlCol="0" anchor="ctr"/>
          <a:lstStyle/>
          <a:p>
            <a:pPr indent="0" marL="0">
              <a:buNone/>
            </a:pPr>
            <a:r>
              <a:rPr lang="en-US" sz="2300" b="1" dirty="0">
                <a:solidFill>
                  <a:srgbClr val="FFFFFF"/>
                </a:solidFill>
                <a:latin typeface="Calibri" pitchFamily="34" charset="0"/>
                <a:ea typeface="Calibri" pitchFamily="34" charset="-122"/>
                <a:cs typeface="Calibri" pitchFamily="34" charset="-120"/>
              </a:rPr>
              <a:t>測り方を間違えると、問題は見えない</a:t>
            </a:r>
            <a:endParaRPr lang="en-US" sz="2300" dirty="0"/>
          </a:p>
        </p:txBody>
      </p:sp>
      <p:sp>
        <p:nvSpPr>
          <p:cNvPr id="6" name="Text 4"/>
          <p:cNvSpPr txBox="1"/>
          <p:nvPr/>
        </p:nvSpPr>
        <p:spPr>
          <a:xfrm>
            <a:off x="1417320" y="2468880"/>
            <a:ext cx="9966960" cy="548640"/>
          </a:xfrm>
          <a:prstGeom prst="rect">
            <a:avLst/>
          </a:prstGeom>
          <a:noFill/>
          <a:ln/>
        </p:spPr>
        <p:txBody>
          <a:bodyPr wrap="square" lIns="0" tIns="0" rIns="0" bIns="0" rtlCol="0" anchor="ctr"/>
          <a:lstStyle/>
          <a:p>
            <a:pPr indent="0" marL="0">
              <a:lnSpc>
                <a:spcPts val="2000"/>
              </a:lnSpc>
              <a:buNone/>
            </a:pPr>
            <a:r>
              <a:rPr lang="en-US" sz="1400" dirty="0">
                <a:solidFill>
                  <a:srgbClr val="6B7688"/>
                </a:solidFill>
                <a:latin typeface="Calibri" pitchFamily="34" charset="0"/>
                <a:ea typeface="Calibri" pitchFamily="34" charset="-122"/>
                <a:cs typeface="Calibri" pitchFamily="34" charset="-120"/>
              </a:rPr>
              <a:t>都合のよい条件で測った2〜3秒は嘘だった。本番に近い条件で測って初めて95秒が見えた。</a:t>
            </a:r>
            <a:endParaRPr lang="en-US" sz="1400" dirty="0"/>
          </a:p>
        </p:txBody>
      </p:sp>
      <p:sp>
        <p:nvSpPr>
          <p:cNvPr id="7" name="Shape 5"/>
          <p:cNvSpPr/>
          <p:nvPr/>
        </p:nvSpPr>
        <p:spPr>
          <a:xfrm>
            <a:off x="731520" y="3538728"/>
            <a:ext cx="402336" cy="402336"/>
          </a:xfrm>
          <a:prstGeom prst="ellipse">
            <a:avLst/>
          </a:prstGeom>
          <a:solidFill>
            <a:srgbClr val="B57B12"/>
          </a:solidFill>
          <a:ln/>
        </p:spPr>
      </p:sp>
      <p:sp>
        <p:nvSpPr>
          <p:cNvPr id="8" name="Text 6"/>
          <p:cNvSpPr txBox="1"/>
          <p:nvPr/>
        </p:nvSpPr>
        <p:spPr>
          <a:xfrm>
            <a:off x="731520" y="3538728"/>
            <a:ext cx="402336" cy="402336"/>
          </a:xfrm>
          <a:prstGeom prst="rect">
            <a:avLst/>
          </a:prstGeom>
          <a:noFill/>
          <a:ln/>
        </p:spPr>
        <p:txBody>
          <a:bodyPr wrap="square" lIns="0" tIns="0" rIns="0" bIns="0" rtlCol="0" anchor="ctr"/>
          <a:lstStyle/>
          <a:p>
            <a:pPr algn="ctr" indent="0" marL="0">
              <a:buNone/>
            </a:pPr>
            <a:r>
              <a:rPr lang="en-US" sz="1500" b="1" dirty="0">
                <a:solidFill>
                  <a:srgbClr val="1B2230"/>
                </a:solidFill>
                <a:latin typeface="Courier New" pitchFamily="34" charset="0"/>
                <a:ea typeface="Courier New" pitchFamily="34" charset="-122"/>
                <a:cs typeface="Courier New" pitchFamily="34" charset="-120"/>
              </a:rPr>
              <a:t>2</a:t>
            </a:r>
            <a:endParaRPr lang="en-US" sz="1500" dirty="0"/>
          </a:p>
        </p:txBody>
      </p:sp>
      <p:sp>
        <p:nvSpPr>
          <p:cNvPr id="9" name="Text 7"/>
          <p:cNvSpPr txBox="1"/>
          <p:nvPr/>
        </p:nvSpPr>
        <p:spPr>
          <a:xfrm>
            <a:off x="1417320" y="3429000"/>
            <a:ext cx="10058400" cy="457200"/>
          </a:xfrm>
          <a:prstGeom prst="rect">
            <a:avLst/>
          </a:prstGeom>
          <a:noFill/>
          <a:ln/>
        </p:spPr>
        <p:txBody>
          <a:bodyPr wrap="square" lIns="0" tIns="0" rIns="0" bIns="0" rtlCol="0" anchor="ctr"/>
          <a:lstStyle/>
          <a:p>
            <a:pPr indent="0" marL="0">
              <a:buNone/>
            </a:pPr>
            <a:r>
              <a:rPr lang="en-US" sz="2300" b="1" dirty="0">
                <a:solidFill>
                  <a:srgbClr val="FFFFFF"/>
                </a:solidFill>
                <a:latin typeface="Calibri" pitchFamily="34" charset="0"/>
                <a:ea typeface="Calibri" pitchFamily="34" charset="-122"/>
                <a:cs typeface="Calibri" pitchFamily="34" charset="-120"/>
              </a:rPr>
              <a:t>AIは信用せず、コードで保証する</a:t>
            </a:r>
            <a:endParaRPr lang="en-US" sz="2300" dirty="0"/>
          </a:p>
        </p:txBody>
      </p:sp>
      <p:sp>
        <p:nvSpPr>
          <p:cNvPr id="10" name="Text 8"/>
          <p:cNvSpPr txBox="1"/>
          <p:nvPr/>
        </p:nvSpPr>
        <p:spPr>
          <a:xfrm>
            <a:off x="1417320" y="3977640"/>
            <a:ext cx="9966960" cy="548640"/>
          </a:xfrm>
          <a:prstGeom prst="rect">
            <a:avLst/>
          </a:prstGeom>
          <a:noFill/>
          <a:ln/>
        </p:spPr>
        <p:txBody>
          <a:bodyPr wrap="square" lIns="0" tIns="0" rIns="0" bIns="0" rtlCol="0" anchor="ctr"/>
          <a:lstStyle/>
          <a:p>
            <a:pPr indent="0" marL="0">
              <a:lnSpc>
                <a:spcPts val="2000"/>
              </a:lnSpc>
              <a:buNone/>
            </a:pPr>
            <a:r>
              <a:rPr lang="en-US" sz="1400" dirty="0">
                <a:solidFill>
                  <a:srgbClr val="6B7688"/>
                </a:solidFill>
                <a:latin typeface="Calibri" pitchFamily="34" charset="0"/>
                <a:ea typeface="Calibri" pitchFamily="34" charset="-122"/>
                <a:cs typeface="Calibri" pitchFamily="34" charset="-120"/>
              </a:rPr>
              <a:t>「ゆっくり下げて」と頼んでも守られない。受け取った値を検算すれば確実になる。</a:t>
            </a:r>
            <a:endParaRPr lang="en-US" sz="1400" dirty="0"/>
          </a:p>
        </p:txBody>
      </p:sp>
      <p:sp>
        <p:nvSpPr>
          <p:cNvPr id="11" name="Shape 9"/>
          <p:cNvSpPr/>
          <p:nvPr/>
        </p:nvSpPr>
        <p:spPr>
          <a:xfrm>
            <a:off x="731520" y="5047488"/>
            <a:ext cx="402336" cy="402336"/>
          </a:xfrm>
          <a:prstGeom prst="ellipse">
            <a:avLst/>
          </a:prstGeom>
          <a:solidFill>
            <a:srgbClr val="1F7A56"/>
          </a:solidFill>
          <a:ln/>
        </p:spPr>
      </p:sp>
      <p:sp>
        <p:nvSpPr>
          <p:cNvPr id="12" name="Text 10"/>
          <p:cNvSpPr txBox="1"/>
          <p:nvPr/>
        </p:nvSpPr>
        <p:spPr>
          <a:xfrm>
            <a:off x="731520" y="5047488"/>
            <a:ext cx="402336" cy="402336"/>
          </a:xfrm>
          <a:prstGeom prst="rect">
            <a:avLst/>
          </a:prstGeom>
          <a:noFill/>
          <a:ln/>
        </p:spPr>
        <p:txBody>
          <a:bodyPr wrap="square" lIns="0" tIns="0" rIns="0" bIns="0" rtlCol="0" anchor="ctr"/>
          <a:lstStyle/>
          <a:p>
            <a:pPr algn="ctr" indent="0" marL="0">
              <a:buNone/>
            </a:pPr>
            <a:r>
              <a:rPr lang="en-US" sz="1500" b="1" dirty="0">
                <a:solidFill>
                  <a:srgbClr val="1B2230"/>
                </a:solidFill>
                <a:latin typeface="Courier New" pitchFamily="34" charset="0"/>
                <a:ea typeface="Courier New" pitchFamily="34" charset="-122"/>
                <a:cs typeface="Courier New" pitchFamily="34" charset="-120"/>
              </a:rPr>
              <a:t>3</a:t>
            </a:r>
            <a:endParaRPr lang="en-US" sz="1500" dirty="0"/>
          </a:p>
        </p:txBody>
      </p:sp>
      <p:sp>
        <p:nvSpPr>
          <p:cNvPr id="13" name="Text 11"/>
          <p:cNvSpPr txBox="1"/>
          <p:nvPr/>
        </p:nvSpPr>
        <p:spPr>
          <a:xfrm>
            <a:off x="1417320" y="4937760"/>
            <a:ext cx="10058400" cy="457200"/>
          </a:xfrm>
          <a:prstGeom prst="rect">
            <a:avLst/>
          </a:prstGeom>
          <a:noFill/>
          <a:ln/>
        </p:spPr>
        <p:txBody>
          <a:bodyPr wrap="square" lIns="0" tIns="0" rIns="0" bIns="0" rtlCol="0" anchor="ctr"/>
          <a:lstStyle/>
          <a:p>
            <a:pPr indent="0" marL="0">
              <a:buNone/>
            </a:pPr>
            <a:r>
              <a:rPr lang="en-US" sz="2300" b="1" dirty="0">
                <a:solidFill>
                  <a:srgbClr val="FFFFFF"/>
                </a:solidFill>
                <a:latin typeface="Calibri" pitchFamily="34" charset="0"/>
                <a:ea typeface="Calibri" pitchFamily="34" charset="-122"/>
                <a:cs typeface="Calibri" pitchFamily="34" charset="-120"/>
              </a:rPr>
              <a:t>自分では、自分の作ったものを評価できない</a:t>
            </a:r>
            <a:endParaRPr lang="en-US" sz="2300" dirty="0"/>
          </a:p>
        </p:txBody>
      </p:sp>
      <p:sp>
        <p:nvSpPr>
          <p:cNvPr id="14" name="Text 12"/>
          <p:cNvSpPr txBox="1"/>
          <p:nvPr/>
        </p:nvSpPr>
        <p:spPr>
          <a:xfrm>
            <a:off x="1417320" y="5486400"/>
            <a:ext cx="9966960" cy="548640"/>
          </a:xfrm>
          <a:prstGeom prst="rect">
            <a:avLst/>
          </a:prstGeom>
          <a:noFill/>
          <a:ln/>
        </p:spPr>
        <p:txBody>
          <a:bodyPr wrap="square" lIns="0" tIns="0" rIns="0" bIns="0" rtlCol="0" anchor="ctr"/>
          <a:lstStyle/>
          <a:p>
            <a:pPr indent="0" marL="0">
              <a:lnSpc>
                <a:spcPts val="2000"/>
              </a:lnSpc>
              <a:buNone/>
            </a:pPr>
            <a:r>
              <a:rPr lang="en-US" sz="1400" dirty="0">
                <a:solidFill>
                  <a:srgbClr val="6B7688"/>
                </a:solidFill>
                <a:latin typeface="Calibri" pitchFamily="34" charset="0"/>
                <a:ea typeface="Calibri" pitchFamily="34" charset="-122"/>
                <a:cs typeface="Calibri" pitchFamily="34" charset="-120"/>
              </a:rPr>
              <a:t>3ラリー問題は他人に使ってもらって初めて分かった。作り手は使い方を知りすぎている。</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230"/>
        </a:solidFill>
      </p:bgPr>
    </p:bg>
    <p:spTree>
      <p:nvGrpSpPr>
        <p:cNvPr id="1" name=""/>
        <p:cNvGrpSpPr/>
        <p:nvPr/>
      </p:nvGrpSpPr>
      <p:grpSpPr>
        <a:xfrm>
          <a:off x="0" y="0"/>
          <a:ext cx="0" cy="0"/>
          <a:chOff x="0" y="0"/>
          <a:chExt cx="0" cy="0"/>
        </a:xfrm>
      </p:grpSpPr>
      <p:sp>
        <p:nvSpPr>
          <p:cNvPr id="2" name="Text 0"/>
          <p:cNvSpPr txBox="1"/>
          <p:nvPr/>
        </p:nvSpPr>
        <p:spPr>
          <a:xfrm>
            <a:off x="822960" y="2011680"/>
            <a:ext cx="7315200" cy="914400"/>
          </a:xfrm>
          <a:prstGeom prst="rect">
            <a:avLst/>
          </a:prstGeom>
          <a:noFill/>
          <a:ln/>
        </p:spPr>
        <p:txBody>
          <a:bodyPr wrap="square" lIns="0" tIns="0" rIns="0" bIns="0" rtlCol="0" anchor="ctr"/>
          <a:lstStyle/>
          <a:p>
            <a:pPr indent="0" marL="0">
              <a:buNone/>
            </a:pPr>
            <a:r>
              <a:rPr lang="en-US" sz="4800" b="1" spc="500" kern="0" dirty="0">
                <a:solidFill>
                  <a:srgbClr val="FFFFFF"/>
                </a:solidFill>
                <a:latin typeface="Cambria" pitchFamily="34" charset="0"/>
                <a:ea typeface="Cambria" pitchFamily="34" charset="-122"/>
                <a:cs typeface="Cambria" pitchFamily="34" charset="-120"/>
              </a:rPr>
              <a:t>クレトレ</a:t>
            </a:r>
            <a:endParaRPr lang="en-US" sz="4800" dirty="0"/>
          </a:p>
        </p:txBody>
      </p:sp>
      <p:sp>
        <p:nvSpPr>
          <p:cNvPr id="3" name="Text 1"/>
          <p:cNvSpPr txBox="1"/>
          <p:nvPr/>
        </p:nvSpPr>
        <p:spPr>
          <a:xfrm>
            <a:off x="868680" y="3108960"/>
            <a:ext cx="7498080" cy="1097280"/>
          </a:xfrm>
          <a:prstGeom prst="rect">
            <a:avLst/>
          </a:prstGeom>
          <a:noFill/>
          <a:ln/>
        </p:spPr>
        <p:txBody>
          <a:bodyPr wrap="square" lIns="0" tIns="0" rIns="0" bIns="0" rtlCol="0" anchor="ctr"/>
          <a:lstStyle/>
          <a:p>
            <a:pPr indent="0" marL="0">
              <a:lnSpc>
                <a:spcPts val="2800"/>
              </a:lnSpc>
              <a:buNone/>
            </a:pPr>
            <a:r>
              <a:rPr lang="en-US" sz="1700" dirty="0">
                <a:solidFill>
                  <a:srgbClr val="6B7688"/>
                </a:solidFill>
                <a:latin typeface="Calibri" pitchFamily="34" charset="0"/>
                <a:ea typeface="Calibri" pitchFamily="34" charset="-122"/>
                <a:cs typeface="Calibri" pitchFamily="34" charset="-120"/>
              </a:rPr>
              <a:t>新人が、誰にも迷惑をかけずにクレーム対応を練習できる場を作りました。</a:t>
            </a:r>
            <a:endParaRPr lang="en-US" sz="1700" dirty="0"/>
          </a:p>
          <a:p>
            <a:pPr indent="0" marL="0">
              <a:lnSpc>
                <a:spcPts val="2800"/>
              </a:lnSpc>
              <a:buNone/>
            </a:pPr>
            <a:r>
              <a:rPr lang="en-US" sz="1700" dirty="0">
                <a:solidFill>
                  <a:srgbClr val="6B7688"/>
                </a:solidFill>
                <a:latin typeface="Calibri" pitchFamily="34" charset="0"/>
                <a:ea typeface="Calibri" pitchFamily="34" charset="-122"/>
                <a:cs typeface="Calibri" pitchFamily="34" charset="-120"/>
              </a:rPr>
              <a:t>怒りの強さが数値で見えるから、自分の一言の効果がその場で分かります。</a:t>
            </a:r>
            <a:endParaRPr lang="en-US" sz="1700" dirty="0"/>
          </a:p>
        </p:txBody>
      </p:sp>
      <p:sp>
        <p:nvSpPr>
          <p:cNvPr id="4" name="Text 2"/>
          <p:cNvSpPr txBox="1"/>
          <p:nvPr/>
        </p:nvSpPr>
        <p:spPr>
          <a:xfrm>
            <a:off x="868680" y="4846320"/>
            <a:ext cx="73152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ご清聴ありがとうございました</a:t>
            </a:r>
            <a:endParaRPr lang="en-US" sz="2200" dirty="0"/>
          </a:p>
        </p:txBody>
      </p:sp>
      <p:sp>
        <p:nvSpPr>
          <p:cNvPr id="5" name="Text 3"/>
          <p:cNvSpPr txBox="1"/>
          <p:nvPr/>
        </p:nvSpPr>
        <p:spPr>
          <a:xfrm>
            <a:off x="8778240" y="2432304"/>
            <a:ext cx="1097280" cy="274320"/>
          </a:xfrm>
          <a:prstGeom prst="rect">
            <a:avLst/>
          </a:prstGeom>
          <a:noFill/>
          <a:ln/>
        </p:spPr>
        <p:txBody>
          <a:bodyPr wrap="square" lIns="0" tIns="0" rIns="0" bIns="0" rtlCol="0" anchor="ctr"/>
          <a:lstStyle/>
          <a:p>
            <a:pPr indent="0" marL="0">
              <a:buNone/>
            </a:pPr>
            <a:r>
              <a:rPr lang="en-US" sz="1200" dirty="0">
                <a:solidFill>
                  <a:srgbClr val="6B7688"/>
                </a:solidFill>
                <a:latin typeface="Calibri" pitchFamily="34" charset="0"/>
                <a:ea typeface="Calibri" pitchFamily="34" charset="-122"/>
                <a:cs typeface="Calibri" pitchFamily="34" charset="-120"/>
              </a:rPr>
              <a:t>はじめ</a:t>
            </a:r>
            <a:endParaRPr lang="en-US" sz="1200" dirty="0"/>
          </a:p>
        </p:txBody>
      </p:sp>
      <p:sp>
        <p:nvSpPr>
          <p:cNvPr id="6" name="Text 4"/>
          <p:cNvSpPr txBox="1"/>
          <p:nvPr/>
        </p:nvSpPr>
        <p:spPr>
          <a:xfrm>
            <a:off x="9966960" y="2377440"/>
            <a:ext cx="1463040" cy="365760"/>
          </a:xfrm>
          <a:prstGeom prst="rect">
            <a:avLst/>
          </a:prstGeom>
          <a:noFill/>
          <a:ln/>
        </p:spPr>
        <p:txBody>
          <a:bodyPr wrap="square" lIns="0" tIns="0" rIns="0" bIns="0" rtlCol="0" anchor="ctr"/>
          <a:lstStyle/>
          <a:p>
            <a:pPr algn="r" indent="0" marL="0">
              <a:buNone/>
            </a:pPr>
            <a:r>
              <a:rPr lang="en-US" sz="2000" b="1" dirty="0">
                <a:solidFill>
                  <a:srgbClr val="C4402A"/>
                </a:solidFill>
                <a:latin typeface="Courier New" pitchFamily="34" charset="0"/>
                <a:ea typeface="Courier New" pitchFamily="34" charset="-122"/>
                <a:cs typeface="Courier New" pitchFamily="34" charset="-120"/>
              </a:rPr>
              <a:t>80</a:t>
            </a:r>
            <a:endParaRPr lang="en-US" sz="2000" dirty="0"/>
          </a:p>
        </p:txBody>
      </p:sp>
      <p:sp>
        <p:nvSpPr>
          <p:cNvPr id="7" name="Shape 5"/>
          <p:cNvSpPr/>
          <p:nvPr/>
        </p:nvSpPr>
        <p:spPr>
          <a:xfrm>
            <a:off x="8778240" y="2743200"/>
            <a:ext cx="2651760" cy="201168"/>
          </a:xfrm>
          <a:prstGeom prst="rect">
            <a:avLst/>
          </a:prstGeom>
          <a:solidFill>
            <a:srgbClr val="F0F2F6"/>
          </a:solidFill>
          <a:ln/>
        </p:spPr>
      </p:sp>
      <p:sp>
        <p:nvSpPr>
          <p:cNvPr id="8" name="Shape 6"/>
          <p:cNvSpPr/>
          <p:nvPr/>
        </p:nvSpPr>
        <p:spPr>
          <a:xfrm>
            <a:off x="8778240" y="2743200"/>
            <a:ext cx="2121408" cy="201168"/>
          </a:xfrm>
          <a:prstGeom prst="rect">
            <a:avLst/>
          </a:prstGeom>
          <a:solidFill>
            <a:srgbClr val="C4402A"/>
          </a:solidFill>
          <a:ln/>
        </p:spPr>
      </p:sp>
      <p:sp>
        <p:nvSpPr>
          <p:cNvPr id="9" name="Text 7"/>
          <p:cNvSpPr txBox="1"/>
          <p:nvPr/>
        </p:nvSpPr>
        <p:spPr>
          <a:xfrm>
            <a:off x="8778240" y="3346704"/>
            <a:ext cx="1097280" cy="274320"/>
          </a:xfrm>
          <a:prstGeom prst="rect">
            <a:avLst/>
          </a:prstGeom>
          <a:noFill/>
          <a:ln/>
        </p:spPr>
        <p:txBody>
          <a:bodyPr wrap="square" lIns="0" tIns="0" rIns="0" bIns="0" rtlCol="0" anchor="ctr"/>
          <a:lstStyle/>
          <a:p>
            <a:pPr indent="0" marL="0">
              <a:buNone/>
            </a:pPr>
            <a:r>
              <a:rPr lang="en-US" sz="1200" dirty="0">
                <a:solidFill>
                  <a:srgbClr val="6B7688"/>
                </a:solidFill>
                <a:latin typeface="Calibri" pitchFamily="34" charset="0"/>
                <a:ea typeface="Calibri" pitchFamily="34" charset="-122"/>
                <a:cs typeface="Calibri" pitchFamily="34" charset="-120"/>
              </a:rPr>
              <a:t>対応中</a:t>
            </a:r>
            <a:endParaRPr lang="en-US" sz="1200" dirty="0"/>
          </a:p>
        </p:txBody>
      </p:sp>
      <p:sp>
        <p:nvSpPr>
          <p:cNvPr id="10" name="Text 8"/>
          <p:cNvSpPr txBox="1"/>
          <p:nvPr/>
        </p:nvSpPr>
        <p:spPr>
          <a:xfrm>
            <a:off x="9966960" y="3291840"/>
            <a:ext cx="1463040" cy="365760"/>
          </a:xfrm>
          <a:prstGeom prst="rect">
            <a:avLst/>
          </a:prstGeom>
          <a:noFill/>
          <a:ln/>
        </p:spPr>
        <p:txBody>
          <a:bodyPr wrap="square" lIns="0" tIns="0" rIns="0" bIns="0" rtlCol="0" anchor="ctr"/>
          <a:lstStyle/>
          <a:p>
            <a:pPr algn="r" indent="0" marL="0">
              <a:buNone/>
            </a:pPr>
            <a:r>
              <a:rPr lang="en-US" sz="2000" b="1" dirty="0">
                <a:solidFill>
                  <a:srgbClr val="B57B12"/>
                </a:solidFill>
                <a:latin typeface="Courier New" pitchFamily="34" charset="0"/>
                <a:ea typeface="Courier New" pitchFamily="34" charset="-122"/>
                <a:cs typeface="Courier New" pitchFamily="34" charset="-120"/>
              </a:rPr>
              <a:t>45</a:t>
            </a:r>
            <a:endParaRPr lang="en-US" sz="2000" dirty="0"/>
          </a:p>
        </p:txBody>
      </p:sp>
      <p:sp>
        <p:nvSpPr>
          <p:cNvPr id="11" name="Shape 9"/>
          <p:cNvSpPr/>
          <p:nvPr/>
        </p:nvSpPr>
        <p:spPr>
          <a:xfrm>
            <a:off x="8778240" y="3657600"/>
            <a:ext cx="2651760" cy="201168"/>
          </a:xfrm>
          <a:prstGeom prst="rect">
            <a:avLst/>
          </a:prstGeom>
          <a:solidFill>
            <a:srgbClr val="F0F2F6"/>
          </a:solidFill>
          <a:ln/>
        </p:spPr>
      </p:sp>
      <p:sp>
        <p:nvSpPr>
          <p:cNvPr id="12" name="Shape 10"/>
          <p:cNvSpPr/>
          <p:nvPr/>
        </p:nvSpPr>
        <p:spPr>
          <a:xfrm>
            <a:off x="8778240" y="3657600"/>
            <a:ext cx="1193292" cy="201168"/>
          </a:xfrm>
          <a:prstGeom prst="rect">
            <a:avLst/>
          </a:prstGeom>
          <a:solidFill>
            <a:srgbClr val="B57B12"/>
          </a:solidFill>
          <a:ln/>
        </p:spPr>
      </p:sp>
      <p:sp>
        <p:nvSpPr>
          <p:cNvPr id="13" name="Text 11"/>
          <p:cNvSpPr txBox="1"/>
          <p:nvPr/>
        </p:nvSpPr>
        <p:spPr>
          <a:xfrm>
            <a:off x="8778240" y="4261104"/>
            <a:ext cx="1097280" cy="274320"/>
          </a:xfrm>
          <a:prstGeom prst="rect">
            <a:avLst/>
          </a:prstGeom>
          <a:noFill/>
          <a:ln/>
        </p:spPr>
        <p:txBody>
          <a:bodyPr wrap="square" lIns="0" tIns="0" rIns="0" bIns="0" rtlCol="0" anchor="ctr"/>
          <a:lstStyle/>
          <a:p>
            <a:pPr indent="0" marL="0">
              <a:buNone/>
            </a:pPr>
            <a:r>
              <a:rPr lang="en-US" sz="1200" dirty="0">
                <a:solidFill>
                  <a:srgbClr val="6B7688"/>
                </a:solidFill>
                <a:latin typeface="Calibri" pitchFamily="34" charset="0"/>
                <a:ea typeface="Calibri" pitchFamily="34" charset="-122"/>
                <a:cs typeface="Calibri" pitchFamily="34" charset="-120"/>
              </a:rPr>
              <a:t>おわり</a:t>
            </a:r>
            <a:endParaRPr lang="en-US" sz="1200" dirty="0"/>
          </a:p>
        </p:txBody>
      </p:sp>
      <p:sp>
        <p:nvSpPr>
          <p:cNvPr id="14" name="Text 12"/>
          <p:cNvSpPr txBox="1"/>
          <p:nvPr/>
        </p:nvSpPr>
        <p:spPr>
          <a:xfrm>
            <a:off x="9966960" y="4206240"/>
            <a:ext cx="1463040" cy="365760"/>
          </a:xfrm>
          <a:prstGeom prst="rect">
            <a:avLst/>
          </a:prstGeom>
          <a:noFill/>
          <a:ln/>
        </p:spPr>
        <p:txBody>
          <a:bodyPr wrap="square" lIns="0" tIns="0" rIns="0" bIns="0" rtlCol="0" anchor="ctr"/>
          <a:lstStyle/>
          <a:p>
            <a:pPr algn="r" indent="0" marL="0">
              <a:buNone/>
            </a:pPr>
            <a:r>
              <a:rPr lang="en-US" sz="2000" b="1" dirty="0">
                <a:solidFill>
                  <a:srgbClr val="1F7A56"/>
                </a:solidFill>
                <a:latin typeface="Courier New" pitchFamily="34" charset="0"/>
                <a:ea typeface="Courier New" pitchFamily="34" charset="-122"/>
                <a:cs typeface="Courier New" pitchFamily="34" charset="-120"/>
              </a:rPr>
              <a:t>12</a:t>
            </a:r>
            <a:endParaRPr lang="en-US" sz="2000" dirty="0"/>
          </a:p>
        </p:txBody>
      </p:sp>
      <p:sp>
        <p:nvSpPr>
          <p:cNvPr id="15" name="Shape 13"/>
          <p:cNvSpPr/>
          <p:nvPr/>
        </p:nvSpPr>
        <p:spPr>
          <a:xfrm>
            <a:off x="8778240" y="4572000"/>
            <a:ext cx="2651760" cy="201168"/>
          </a:xfrm>
          <a:prstGeom prst="rect">
            <a:avLst/>
          </a:prstGeom>
          <a:solidFill>
            <a:srgbClr val="F0F2F6"/>
          </a:solidFill>
          <a:ln/>
        </p:spPr>
      </p:sp>
      <p:sp>
        <p:nvSpPr>
          <p:cNvPr id="16" name="Shape 14"/>
          <p:cNvSpPr/>
          <p:nvPr/>
        </p:nvSpPr>
        <p:spPr>
          <a:xfrm>
            <a:off x="8778240" y="4572000"/>
            <a:ext cx="318211" cy="201168"/>
          </a:xfrm>
          <a:prstGeom prst="rect">
            <a:avLst/>
          </a:prstGeom>
          <a:solidFill>
            <a:srgbClr val="1F7A56"/>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2026-09-03T07:12:26Z</dcterms:created>
  <dcterms:modified xsi:type="dcterms:W3CDTF">2026-09-03T07:12:26Z</dcterms:modified>
</cp:coreProperties>
</file>